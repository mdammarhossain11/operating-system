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9144000"/>
  <p:notesSz cx="6997700" cy="9283700"/>
  <p:embeddedFontLst>
    <p:embeddedFont>
      <p:font typeface="Helvetica Neue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88">
          <p15:clr>
            <a:srgbClr val="A4A3A4"/>
          </p15:clr>
        </p15:guide>
        <p15:guide id="2" pos="503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i16Lrng6peN7boPlOCLb42LbVg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88" orient="horz"/>
        <p:guide pos="503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HelveticaNeue-bold.fntdata"/><Relationship Id="rId27" Type="http://schemas.openxmlformats.org/officeDocument/2006/relationships/font" Target="fonts/HelveticaNeu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elveticaNeue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HelveticaNeue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3713" cy="465138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62400" y="0"/>
            <a:ext cx="3033713" cy="465138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77925" y="695325"/>
            <a:ext cx="4641850" cy="3481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0088" y="4410075"/>
            <a:ext cx="5599112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16975"/>
            <a:ext cx="3033713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6200" lIns="92425" spcFirstLastPara="1" rIns="92425" wrap="square" tIns="462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62400" y="8816975"/>
            <a:ext cx="3033713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6200" lIns="92425" spcFirstLastPara="1" rIns="92425" wrap="square" tIns="462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 txBox="1"/>
          <p:nvPr>
            <p:ph idx="12" type="sldNum"/>
          </p:nvPr>
        </p:nvSpPr>
        <p:spPr>
          <a:xfrm>
            <a:off x="3962400" y="8816975"/>
            <a:ext cx="3033713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6200" lIns="92425" spcFirstLastPara="1" rIns="92425" wrap="square" tIns="4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1:notes"/>
          <p:cNvSpPr/>
          <p:nvPr>
            <p:ph idx="2" type="sldImg"/>
          </p:nvPr>
        </p:nvSpPr>
        <p:spPr>
          <a:xfrm>
            <a:off x="1177925" y="695325"/>
            <a:ext cx="4641850" cy="3481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7" name="Google Shape;67;p1:notes"/>
          <p:cNvSpPr txBox="1"/>
          <p:nvPr>
            <p:ph idx="1" type="body"/>
          </p:nvPr>
        </p:nvSpPr>
        <p:spPr>
          <a:xfrm>
            <a:off x="700088" y="4410075"/>
            <a:ext cx="5599112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 txBox="1"/>
          <p:nvPr>
            <p:ph idx="12" type="sldNum"/>
          </p:nvPr>
        </p:nvSpPr>
        <p:spPr>
          <a:xfrm>
            <a:off x="3962400" y="8816975"/>
            <a:ext cx="3033713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6200" lIns="92425" spcFirstLastPara="1" rIns="92425" wrap="square" tIns="4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2:notes"/>
          <p:cNvSpPr/>
          <p:nvPr>
            <p:ph idx="2" type="sldImg"/>
          </p:nvPr>
        </p:nvSpPr>
        <p:spPr>
          <a:xfrm>
            <a:off x="1177925" y="695325"/>
            <a:ext cx="4641850" cy="3481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3" name="Google Shape;73;p2:notes"/>
          <p:cNvSpPr txBox="1"/>
          <p:nvPr>
            <p:ph idx="1" type="body"/>
          </p:nvPr>
        </p:nvSpPr>
        <p:spPr>
          <a:xfrm>
            <a:off x="700088" y="4410075"/>
            <a:ext cx="5599112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 txBox="1"/>
          <p:nvPr>
            <p:ph idx="12" type="sldNum"/>
          </p:nvPr>
        </p:nvSpPr>
        <p:spPr>
          <a:xfrm>
            <a:off x="3962400" y="8816975"/>
            <a:ext cx="3033713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6200" lIns="92425" spcFirstLastPara="1" rIns="92425" wrap="square" tIns="4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3:notes"/>
          <p:cNvSpPr/>
          <p:nvPr>
            <p:ph idx="2" type="sldImg"/>
          </p:nvPr>
        </p:nvSpPr>
        <p:spPr>
          <a:xfrm>
            <a:off x="1177925" y="695325"/>
            <a:ext cx="4641850" cy="3481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700088" y="4410075"/>
            <a:ext cx="5599112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 txBox="1"/>
          <p:nvPr>
            <p:ph idx="12" type="sldNum"/>
          </p:nvPr>
        </p:nvSpPr>
        <p:spPr>
          <a:xfrm>
            <a:off x="3962400" y="8816975"/>
            <a:ext cx="3033713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6200" lIns="92425" spcFirstLastPara="1" rIns="92425" wrap="square" tIns="4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" name="Google Shape;86;p4:notes"/>
          <p:cNvSpPr/>
          <p:nvPr>
            <p:ph idx="2" type="sldImg"/>
          </p:nvPr>
        </p:nvSpPr>
        <p:spPr>
          <a:xfrm>
            <a:off x="1177925" y="695325"/>
            <a:ext cx="4641850" cy="3481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700088" y="4410075"/>
            <a:ext cx="5599112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 txBox="1"/>
          <p:nvPr>
            <p:ph idx="12" type="sldNum"/>
          </p:nvPr>
        </p:nvSpPr>
        <p:spPr>
          <a:xfrm>
            <a:off x="3962400" y="8816975"/>
            <a:ext cx="3033713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6200" lIns="92425" spcFirstLastPara="1" rIns="92425" wrap="square" tIns="4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5:notes"/>
          <p:cNvSpPr/>
          <p:nvPr>
            <p:ph idx="2" type="sldImg"/>
          </p:nvPr>
        </p:nvSpPr>
        <p:spPr>
          <a:xfrm>
            <a:off x="1177925" y="695325"/>
            <a:ext cx="4641850" cy="3481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700088" y="4410075"/>
            <a:ext cx="5599112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 txBox="1"/>
          <p:nvPr>
            <p:ph idx="12" type="sldNum"/>
          </p:nvPr>
        </p:nvSpPr>
        <p:spPr>
          <a:xfrm>
            <a:off x="3962400" y="8816975"/>
            <a:ext cx="3033713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6200" lIns="92425" spcFirstLastPara="1" rIns="92425" wrap="square" tIns="4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6:notes"/>
          <p:cNvSpPr/>
          <p:nvPr>
            <p:ph idx="2" type="sldImg"/>
          </p:nvPr>
        </p:nvSpPr>
        <p:spPr>
          <a:xfrm>
            <a:off x="1177925" y="695325"/>
            <a:ext cx="4641850" cy="3481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1" name="Google Shape;101;p6:notes"/>
          <p:cNvSpPr txBox="1"/>
          <p:nvPr>
            <p:ph idx="1" type="body"/>
          </p:nvPr>
        </p:nvSpPr>
        <p:spPr>
          <a:xfrm>
            <a:off x="700088" y="4410075"/>
            <a:ext cx="5599112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:notes"/>
          <p:cNvSpPr txBox="1"/>
          <p:nvPr>
            <p:ph idx="12" type="sldNum"/>
          </p:nvPr>
        </p:nvSpPr>
        <p:spPr>
          <a:xfrm>
            <a:off x="3962400" y="8816975"/>
            <a:ext cx="3033713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6200" lIns="92425" spcFirstLastPara="1" rIns="92425" wrap="square" tIns="4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7:notes"/>
          <p:cNvSpPr/>
          <p:nvPr>
            <p:ph idx="2" type="sldImg"/>
          </p:nvPr>
        </p:nvSpPr>
        <p:spPr>
          <a:xfrm>
            <a:off x="1177925" y="695325"/>
            <a:ext cx="4641850" cy="3481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08" name="Google Shape;108;p7:notes"/>
          <p:cNvSpPr txBox="1"/>
          <p:nvPr>
            <p:ph idx="1" type="body"/>
          </p:nvPr>
        </p:nvSpPr>
        <p:spPr>
          <a:xfrm>
            <a:off x="700088" y="4410075"/>
            <a:ext cx="5599112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:notes"/>
          <p:cNvSpPr txBox="1"/>
          <p:nvPr>
            <p:ph idx="12" type="sldNum"/>
          </p:nvPr>
        </p:nvSpPr>
        <p:spPr>
          <a:xfrm>
            <a:off x="3962400" y="8816975"/>
            <a:ext cx="3033713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6200" lIns="92425" spcFirstLastPara="1" rIns="92425" wrap="square" tIns="4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p8:notes"/>
          <p:cNvSpPr/>
          <p:nvPr>
            <p:ph idx="2" type="sldImg"/>
          </p:nvPr>
        </p:nvSpPr>
        <p:spPr>
          <a:xfrm>
            <a:off x="1177925" y="695325"/>
            <a:ext cx="4641850" cy="3481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5" name="Google Shape;115;p8:notes"/>
          <p:cNvSpPr txBox="1"/>
          <p:nvPr>
            <p:ph idx="1" type="body"/>
          </p:nvPr>
        </p:nvSpPr>
        <p:spPr>
          <a:xfrm>
            <a:off x="700088" y="4410075"/>
            <a:ext cx="5599112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:notes"/>
          <p:cNvSpPr txBox="1"/>
          <p:nvPr>
            <p:ph idx="12" type="sldNum"/>
          </p:nvPr>
        </p:nvSpPr>
        <p:spPr>
          <a:xfrm>
            <a:off x="3962400" y="8816975"/>
            <a:ext cx="3033713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6200" lIns="92425" spcFirstLastPara="1" rIns="92425" wrap="square" tIns="4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" name="Google Shape;121;p10:notes"/>
          <p:cNvSpPr/>
          <p:nvPr>
            <p:ph idx="2" type="sldImg"/>
          </p:nvPr>
        </p:nvSpPr>
        <p:spPr>
          <a:xfrm>
            <a:off x="1177925" y="695325"/>
            <a:ext cx="4641850" cy="3481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2" name="Google Shape;122;p10:notes"/>
          <p:cNvSpPr txBox="1"/>
          <p:nvPr>
            <p:ph idx="1" type="body"/>
          </p:nvPr>
        </p:nvSpPr>
        <p:spPr>
          <a:xfrm>
            <a:off x="700088" y="4410075"/>
            <a:ext cx="5599112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:notes"/>
          <p:cNvSpPr txBox="1"/>
          <p:nvPr>
            <p:ph idx="12" type="sldNum"/>
          </p:nvPr>
        </p:nvSpPr>
        <p:spPr>
          <a:xfrm>
            <a:off x="3962400" y="8816975"/>
            <a:ext cx="3033713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6200" lIns="92425" spcFirstLastPara="1" rIns="92425" wrap="square" tIns="4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13:notes"/>
          <p:cNvSpPr/>
          <p:nvPr>
            <p:ph idx="2" type="sldImg"/>
          </p:nvPr>
        </p:nvSpPr>
        <p:spPr>
          <a:xfrm>
            <a:off x="1177925" y="695325"/>
            <a:ext cx="4641850" cy="3481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9" name="Google Shape;149;p13:notes"/>
          <p:cNvSpPr txBox="1"/>
          <p:nvPr>
            <p:ph idx="1" type="body"/>
          </p:nvPr>
        </p:nvSpPr>
        <p:spPr>
          <a:xfrm>
            <a:off x="700088" y="4410075"/>
            <a:ext cx="5599112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:notes"/>
          <p:cNvSpPr txBox="1"/>
          <p:nvPr>
            <p:ph idx="12" type="sldNum"/>
          </p:nvPr>
        </p:nvSpPr>
        <p:spPr>
          <a:xfrm>
            <a:off x="3962400" y="8816975"/>
            <a:ext cx="3033713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6200" lIns="92425" spcFirstLastPara="1" rIns="92425" wrap="square" tIns="4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5" name="Google Shape;155;p14:notes"/>
          <p:cNvSpPr/>
          <p:nvPr>
            <p:ph idx="2" type="sldImg"/>
          </p:nvPr>
        </p:nvSpPr>
        <p:spPr>
          <a:xfrm>
            <a:off x="1177925" y="695325"/>
            <a:ext cx="4641850" cy="3481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6" name="Google Shape;156;p14:notes"/>
          <p:cNvSpPr txBox="1"/>
          <p:nvPr>
            <p:ph idx="1" type="body"/>
          </p:nvPr>
        </p:nvSpPr>
        <p:spPr>
          <a:xfrm>
            <a:off x="700088" y="4410075"/>
            <a:ext cx="5599112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:notes"/>
          <p:cNvSpPr txBox="1"/>
          <p:nvPr>
            <p:ph idx="12" type="sldNum"/>
          </p:nvPr>
        </p:nvSpPr>
        <p:spPr>
          <a:xfrm>
            <a:off x="3962400" y="8816975"/>
            <a:ext cx="3033713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6200" lIns="92425" spcFirstLastPara="1" rIns="92425" wrap="square" tIns="4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15:notes"/>
          <p:cNvSpPr/>
          <p:nvPr>
            <p:ph idx="2" type="sldImg"/>
          </p:nvPr>
        </p:nvSpPr>
        <p:spPr>
          <a:xfrm>
            <a:off x="1177925" y="695325"/>
            <a:ext cx="4641850" cy="3481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3" name="Google Shape;163;p15:notes"/>
          <p:cNvSpPr txBox="1"/>
          <p:nvPr>
            <p:ph idx="1" type="body"/>
          </p:nvPr>
        </p:nvSpPr>
        <p:spPr>
          <a:xfrm>
            <a:off x="700088" y="4410075"/>
            <a:ext cx="5599112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:notes"/>
          <p:cNvSpPr txBox="1"/>
          <p:nvPr>
            <p:ph idx="12" type="sldNum"/>
          </p:nvPr>
        </p:nvSpPr>
        <p:spPr>
          <a:xfrm>
            <a:off x="3962400" y="8816975"/>
            <a:ext cx="3033713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6200" lIns="92425" spcFirstLastPara="1" rIns="92425" wrap="square" tIns="4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6:notes"/>
          <p:cNvSpPr/>
          <p:nvPr>
            <p:ph idx="2" type="sldImg"/>
          </p:nvPr>
        </p:nvSpPr>
        <p:spPr>
          <a:xfrm>
            <a:off x="1177925" y="695325"/>
            <a:ext cx="4641850" cy="3481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2" name="Google Shape;172;p16:notes"/>
          <p:cNvSpPr txBox="1"/>
          <p:nvPr>
            <p:ph idx="1" type="body"/>
          </p:nvPr>
        </p:nvSpPr>
        <p:spPr>
          <a:xfrm>
            <a:off x="700088" y="4410075"/>
            <a:ext cx="5599112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 txBox="1"/>
          <p:nvPr>
            <p:ph idx="12" type="sldNum"/>
          </p:nvPr>
        </p:nvSpPr>
        <p:spPr>
          <a:xfrm>
            <a:off x="3962400" y="8816975"/>
            <a:ext cx="3033713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6200" lIns="92425" spcFirstLastPara="1" rIns="92425" wrap="square" tIns="4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0" name="Google Shape;180;p17:notes"/>
          <p:cNvSpPr/>
          <p:nvPr>
            <p:ph idx="2" type="sldImg"/>
          </p:nvPr>
        </p:nvSpPr>
        <p:spPr>
          <a:xfrm>
            <a:off x="1177925" y="695325"/>
            <a:ext cx="4641850" cy="3481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1" name="Google Shape;181;p17:notes"/>
          <p:cNvSpPr txBox="1"/>
          <p:nvPr>
            <p:ph idx="1" type="body"/>
          </p:nvPr>
        </p:nvSpPr>
        <p:spPr>
          <a:xfrm>
            <a:off x="700088" y="4410075"/>
            <a:ext cx="5599112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:notes"/>
          <p:cNvSpPr txBox="1"/>
          <p:nvPr>
            <p:ph idx="12" type="sldNum"/>
          </p:nvPr>
        </p:nvSpPr>
        <p:spPr>
          <a:xfrm>
            <a:off x="3962400" y="8816975"/>
            <a:ext cx="3033713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6200" lIns="92425" spcFirstLastPara="1" rIns="92425" wrap="square" tIns="4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7" name="Google Shape;187;p18:notes"/>
          <p:cNvSpPr/>
          <p:nvPr>
            <p:ph idx="2" type="sldImg"/>
          </p:nvPr>
        </p:nvSpPr>
        <p:spPr>
          <a:xfrm>
            <a:off x="1177925" y="695325"/>
            <a:ext cx="4641850" cy="3481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88" name="Google Shape;188;p18:notes"/>
          <p:cNvSpPr txBox="1"/>
          <p:nvPr>
            <p:ph idx="1" type="body"/>
          </p:nvPr>
        </p:nvSpPr>
        <p:spPr>
          <a:xfrm>
            <a:off x="700088" y="4410075"/>
            <a:ext cx="5599112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:notes"/>
          <p:cNvSpPr txBox="1"/>
          <p:nvPr>
            <p:ph idx="12" type="sldNum"/>
          </p:nvPr>
        </p:nvSpPr>
        <p:spPr>
          <a:xfrm>
            <a:off x="3962400" y="8816975"/>
            <a:ext cx="3033713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6200" lIns="92425" spcFirstLastPara="1" rIns="92425" wrap="square" tIns="4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4" name="Google Shape;194;p19:notes"/>
          <p:cNvSpPr/>
          <p:nvPr>
            <p:ph idx="2" type="sldImg"/>
          </p:nvPr>
        </p:nvSpPr>
        <p:spPr>
          <a:xfrm>
            <a:off x="1177925" y="695325"/>
            <a:ext cx="4641850" cy="3481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5" name="Google Shape;195;p19:notes"/>
          <p:cNvSpPr txBox="1"/>
          <p:nvPr>
            <p:ph idx="1" type="body"/>
          </p:nvPr>
        </p:nvSpPr>
        <p:spPr>
          <a:xfrm>
            <a:off x="700088" y="4410075"/>
            <a:ext cx="5599112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0:notes"/>
          <p:cNvSpPr txBox="1"/>
          <p:nvPr>
            <p:ph idx="12" type="sldNum"/>
          </p:nvPr>
        </p:nvSpPr>
        <p:spPr>
          <a:xfrm>
            <a:off x="3962400" y="8816975"/>
            <a:ext cx="3033713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6200" lIns="92425" spcFirstLastPara="1" rIns="92425" wrap="square" tIns="4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p20:notes"/>
          <p:cNvSpPr/>
          <p:nvPr>
            <p:ph idx="2" type="sldImg"/>
          </p:nvPr>
        </p:nvSpPr>
        <p:spPr>
          <a:xfrm>
            <a:off x="1177925" y="695325"/>
            <a:ext cx="4641850" cy="3481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0" name="Google Shape;210;p20:notes"/>
          <p:cNvSpPr txBox="1"/>
          <p:nvPr>
            <p:ph idx="1" type="body"/>
          </p:nvPr>
        </p:nvSpPr>
        <p:spPr>
          <a:xfrm>
            <a:off x="700088" y="4410075"/>
            <a:ext cx="5599112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:notes"/>
          <p:cNvSpPr txBox="1"/>
          <p:nvPr>
            <p:ph idx="12" type="sldNum"/>
          </p:nvPr>
        </p:nvSpPr>
        <p:spPr>
          <a:xfrm>
            <a:off x="3962400" y="8816975"/>
            <a:ext cx="3033713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6200" lIns="92425" spcFirstLastPara="1" rIns="92425" wrap="square" tIns="4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7" name="Google Shape;217;p21:notes"/>
          <p:cNvSpPr/>
          <p:nvPr>
            <p:ph idx="2" type="sldImg"/>
          </p:nvPr>
        </p:nvSpPr>
        <p:spPr>
          <a:xfrm>
            <a:off x="1177925" y="695325"/>
            <a:ext cx="4641850" cy="3481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8" name="Google Shape;218;p21:notes"/>
          <p:cNvSpPr txBox="1"/>
          <p:nvPr>
            <p:ph idx="1" type="body"/>
          </p:nvPr>
        </p:nvSpPr>
        <p:spPr>
          <a:xfrm>
            <a:off x="700088" y="4410075"/>
            <a:ext cx="5599112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2:notes"/>
          <p:cNvSpPr txBox="1"/>
          <p:nvPr>
            <p:ph idx="12" type="sldNum"/>
          </p:nvPr>
        </p:nvSpPr>
        <p:spPr>
          <a:xfrm>
            <a:off x="3962400" y="8816975"/>
            <a:ext cx="3033713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6200" lIns="92425" spcFirstLastPara="1" rIns="92425" wrap="square" tIns="4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4" name="Google Shape;224;p22:notes"/>
          <p:cNvSpPr/>
          <p:nvPr>
            <p:ph idx="2" type="sldImg"/>
          </p:nvPr>
        </p:nvSpPr>
        <p:spPr>
          <a:xfrm>
            <a:off x="1177925" y="695325"/>
            <a:ext cx="4641850" cy="3481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25" name="Google Shape;225;p22:notes"/>
          <p:cNvSpPr txBox="1"/>
          <p:nvPr>
            <p:ph idx="1" type="body"/>
          </p:nvPr>
        </p:nvSpPr>
        <p:spPr>
          <a:xfrm>
            <a:off x="700088" y="4410075"/>
            <a:ext cx="5599112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:notes"/>
          <p:cNvSpPr txBox="1"/>
          <p:nvPr>
            <p:ph idx="12" type="sldNum"/>
          </p:nvPr>
        </p:nvSpPr>
        <p:spPr>
          <a:xfrm>
            <a:off x="3962400" y="8816975"/>
            <a:ext cx="3033713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6200" lIns="92425" spcFirstLastPara="1" rIns="92425" wrap="square" tIns="4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1" name="Google Shape;231;p23:notes"/>
          <p:cNvSpPr/>
          <p:nvPr>
            <p:ph idx="2" type="sldImg"/>
          </p:nvPr>
        </p:nvSpPr>
        <p:spPr>
          <a:xfrm>
            <a:off x="1177925" y="695325"/>
            <a:ext cx="4641850" cy="3481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2" name="Google Shape;232;p23:notes"/>
          <p:cNvSpPr txBox="1"/>
          <p:nvPr>
            <p:ph idx="1" type="body"/>
          </p:nvPr>
        </p:nvSpPr>
        <p:spPr>
          <a:xfrm>
            <a:off x="700088" y="4410075"/>
            <a:ext cx="5599112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4:notes"/>
          <p:cNvSpPr txBox="1"/>
          <p:nvPr>
            <p:ph idx="12" type="sldNum"/>
          </p:nvPr>
        </p:nvSpPr>
        <p:spPr>
          <a:xfrm>
            <a:off x="3962400" y="8816975"/>
            <a:ext cx="3033713" cy="465138"/>
          </a:xfrm>
          <a:prstGeom prst="rect">
            <a:avLst/>
          </a:prstGeom>
          <a:noFill/>
          <a:ln>
            <a:noFill/>
          </a:ln>
        </p:spPr>
        <p:txBody>
          <a:bodyPr anchorCtr="0" anchor="b" bIns="46200" lIns="92425" spcFirstLastPara="1" rIns="92425" wrap="square" tIns="462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8" name="Google Shape;238;p24:notes"/>
          <p:cNvSpPr/>
          <p:nvPr>
            <p:ph idx="2" type="sldImg"/>
          </p:nvPr>
        </p:nvSpPr>
        <p:spPr>
          <a:xfrm>
            <a:off x="1177925" y="695325"/>
            <a:ext cx="4641850" cy="3481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9" name="Google Shape;239;p24:notes"/>
          <p:cNvSpPr txBox="1"/>
          <p:nvPr>
            <p:ph idx="1" type="body"/>
          </p:nvPr>
        </p:nvSpPr>
        <p:spPr>
          <a:xfrm>
            <a:off x="700088" y="4410075"/>
            <a:ext cx="5599112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00" lIns="92425" spcFirstLastPara="1" rIns="92425" wrap="square" tIns="4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/>
          <p:nvPr>
            <p:ph type="ctrTitle"/>
          </p:nvPr>
        </p:nvSpPr>
        <p:spPr>
          <a:xfrm>
            <a:off x="685800" y="685800"/>
            <a:ext cx="7772400" cy="2127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3" name="Google Shape;23;p26"/>
          <p:cNvGrpSpPr/>
          <p:nvPr/>
        </p:nvGrpSpPr>
        <p:grpSpPr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24" name="Google Shape;24;p26"/>
            <p:cNvSpPr/>
            <p:nvPr/>
          </p:nvSpPr>
          <p:spPr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5" name="Google Shape;25;p26"/>
            <p:cNvSpPr/>
            <p:nvPr/>
          </p:nvSpPr>
          <p:spPr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6" name="Google Shape;26;p26"/>
            <p:cNvSpPr/>
            <p:nvPr/>
          </p:nvSpPr>
          <p:spPr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27" name="Google Shape;27;p26"/>
          <p:cNvSpPr txBox="1"/>
          <p:nvPr/>
        </p:nvSpPr>
        <p:spPr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3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Silberschatz, Galvin and Gagne ©2009</a:t>
            </a:r>
            <a:endParaRPr/>
          </a:p>
        </p:txBody>
      </p:sp>
      <p:sp>
        <p:nvSpPr>
          <p:cNvPr id="28" name="Google Shape;28;p26"/>
          <p:cNvSpPr txBox="1"/>
          <p:nvPr/>
        </p:nvSpPr>
        <p:spPr>
          <a:xfrm>
            <a:off x="26988" y="6613525"/>
            <a:ext cx="26352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3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Operating System Concepts – 8</a:t>
            </a:r>
            <a:r>
              <a:rPr b="1" baseline="30000" lang="en-US" sz="1000">
                <a:solidFill>
                  <a:srgbClr val="33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b="1" lang="en-US" sz="1000">
                <a:solidFill>
                  <a:srgbClr val="33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Edition</a:t>
            </a:r>
            <a:endParaRPr/>
          </a:p>
        </p:txBody>
      </p:sp>
      <p:pic>
        <p:nvPicPr>
          <p:cNvPr descr="dino_4" id="29" name="Google Shape;29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60738" y="4157663"/>
            <a:ext cx="2062162" cy="1593850"/>
          </a:xfrm>
          <a:prstGeom prst="rect">
            <a:avLst/>
          </a:prstGeom>
          <a:noFill/>
          <a:ln cap="flat" cmpd="sng" w="76200">
            <a:solidFill>
              <a:srgbClr val="336699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30" name="Google Shape;30;p26"/>
          <p:cNvSpPr/>
          <p:nvPr/>
        </p:nvSpPr>
        <p:spPr>
          <a:xfrm>
            <a:off x="3224213" y="4016375"/>
            <a:ext cx="2336800" cy="1887538"/>
          </a:xfrm>
          <a:prstGeom prst="rect">
            <a:avLst/>
          </a:prstGeom>
          <a:noFill/>
          <a:ln cap="flat" cmpd="thinThick" w="57150">
            <a:solidFill>
              <a:srgbClr val="66C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7"/>
          <p:cNvSpPr txBox="1"/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7"/>
          <p:cNvSpPr txBox="1"/>
          <p:nvPr>
            <p:ph idx="1" type="body"/>
          </p:nvPr>
        </p:nvSpPr>
        <p:spPr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20040" lvl="1" marL="914400" algn="l"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indent="-314325" lvl="3" marL="1828800" algn="l">
              <a:spcBef>
                <a:spcPts val="630"/>
              </a:spcBef>
              <a:spcAft>
                <a:spcPts val="0"/>
              </a:spcAft>
              <a:buSzPts val="1350"/>
              <a:buChar char="–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8"/>
          <p:cNvSpPr txBox="1"/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800"/>
              <a:buNone/>
              <a:defRPr sz="2000"/>
            </a:lvl1pPr>
            <a:lvl2pPr indent="-228600" lvl="1" marL="914400" algn="l">
              <a:spcBef>
                <a:spcPts val="630"/>
              </a:spcBef>
              <a:spcAft>
                <a:spcPts val="0"/>
              </a:spcAft>
              <a:buSzPts val="1440"/>
              <a:buNone/>
              <a:defRPr sz="1800"/>
            </a:lvl2pPr>
            <a:lvl3pPr indent="-228600" lvl="2" marL="1371600" algn="l">
              <a:spcBef>
                <a:spcPts val="560"/>
              </a:spcBef>
              <a:spcAft>
                <a:spcPts val="0"/>
              </a:spcAft>
              <a:buSzPts val="1200"/>
              <a:buNone/>
              <a:defRPr sz="1600"/>
            </a:lvl3pPr>
            <a:lvl4pPr indent="-228600" lvl="3" marL="18288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4pPr>
            <a:lvl5pPr indent="-228600" lvl="4" marL="22860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5pPr>
            <a:lvl6pPr indent="-228600" lvl="5" marL="27432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6pPr>
            <a:lvl7pPr indent="-228600" lvl="6" marL="32004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7pPr>
            <a:lvl8pPr indent="-228600" lvl="7" marL="36576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8pPr>
            <a:lvl9pPr indent="-228600" lvl="8" marL="41148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1"/>
          <p:cNvSpPr txBox="1"/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1"/>
          <p:cNvSpPr txBox="1"/>
          <p:nvPr>
            <p:ph idx="1" type="body"/>
          </p:nvPr>
        </p:nvSpPr>
        <p:spPr>
          <a:xfrm>
            <a:off x="806450" y="1233488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8620" lvl="0" marL="457200" algn="l">
              <a:spcBef>
                <a:spcPts val="980"/>
              </a:spcBef>
              <a:spcAft>
                <a:spcPts val="0"/>
              </a:spcAft>
              <a:buSzPts val="2520"/>
              <a:buChar char="●"/>
              <a:defRPr sz="2800"/>
            </a:lvl1pPr>
            <a:lvl2pPr indent="-350519" lvl="1" marL="914400" algn="l">
              <a:spcBef>
                <a:spcPts val="840"/>
              </a:spcBef>
              <a:spcAft>
                <a:spcPts val="0"/>
              </a:spcAft>
              <a:buSzPts val="1920"/>
              <a:buChar char="●"/>
              <a:defRPr sz="2400"/>
            </a:lvl2pPr>
            <a:lvl3pPr indent="-323850" lvl="2" marL="1371600" algn="l">
              <a:spcBef>
                <a:spcPts val="700"/>
              </a:spcBef>
              <a:spcAft>
                <a:spcPts val="0"/>
              </a:spcAft>
              <a:buSzPts val="1500"/>
              <a:buChar char="4"/>
              <a:defRPr sz="2000"/>
            </a:lvl3pPr>
            <a:lvl4pPr indent="-314325" lvl="3" marL="18288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–"/>
              <a:defRPr sz="1800"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9pPr>
          </a:lstStyle>
          <a:p/>
        </p:txBody>
      </p:sp>
      <p:sp>
        <p:nvSpPr>
          <p:cNvPr id="43" name="Google Shape;43;p31"/>
          <p:cNvSpPr txBox="1"/>
          <p:nvPr>
            <p:ph idx="2" type="body"/>
          </p:nvPr>
        </p:nvSpPr>
        <p:spPr>
          <a:xfrm>
            <a:off x="4997450" y="1233488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8620" lvl="0" marL="457200" algn="l">
              <a:spcBef>
                <a:spcPts val="980"/>
              </a:spcBef>
              <a:spcAft>
                <a:spcPts val="0"/>
              </a:spcAft>
              <a:buSzPts val="2520"/>
              <a:buChar char="●"/>
              <a:defRPr sz="2800"/>
            </a:lvl1pPr>
            <a:lvl2pPr indent="-350519" lvl="1" marL="914400" algn="l">
              <a:spcBef>
                <a:spcPts val="840"/>
              </a:spcBef>
              <a:spcAft>
                <a:spcPts val="0"/>
              </a:spcAft>
              <a:buSzPts val="1920"/>
              <a:buChar char="●"/>
              <a:defRPr sz="2400"/>
            </a:lvl2pPr>
            <a:lvl3pPr indent="-323850" lvl="2" marL="1371600" algn="l">
              <a:spcBef>
                <a:spcPts val="700"/>
              </a:spcBef>
              <a:spcAft>
                <a:spcPts val="0"/>
              </a:spcAft>
              <a:buSzPts val="1500"/>
              <a:buChar char="4"/>
              <a:defRPr sz="2000"/>
            </a:lvl3pPr>
            <a:lvl4pPr indent="-314325" lvl="3" marL="18288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–"/>
              <a:defRPr sz="1800"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2160"/>
              <a:buNone/>
              <a:defRPr b="1"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630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4pPr>
            <a:lvl5pPr indent="-2286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5pPr>
            <a:lvl6pPr indent="-2286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6pPr>
            <a:lvl7pPr indent="-2286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7pPr>
            <a:lvl8pPr indent="-2286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8pPr>
            <a:lvl9pPr indent="-2286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47" name="Google Shape;47;p3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spcBef>
                <a:spcPts val="840"/>
              </a:spcBef>
              <a:spcAft>
                <a:spcPts val="0"/>
              </a:spcAft>
              <a:buSzPts val="2160"/>
              <a:buChar char="●"/>
              <a:defRPr sz="2400"/>
            </a:lvl1pPr>
            <a:lvl2pPr indent="-330200" lvl="1" marL="914400" algn="l"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2000"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 sz="1800"/>
            </a:lvl3pPr>
            <a:lvl4pPr indent="-304800" lvl="3" marL="1828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–"/>
              <a:defRPr sz="1600"/>
            </a:lvl4pPr>
            <a:lvl5pPr indent="-3048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5pPr>
            <a:lvl6pPr indent="-3048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6pPr>
            <a:lvl7pPr indent="-3048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7pPr>
            <a:lvl8pPr indent="-3048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8pPr>
            <a:lvl9pPr indent="-3048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9pPr>
          </a:lstStyle>
          <a:p/>
        </p:txBody>
      </p:sp>
      <p:sp>
        <p:nvSpPr>
          <p:cNvPr id="48" name="Google Shape;48;p3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2160"/>
              <a:buNone/>
              <a:defRPr b="1"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630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4pPr>
            <a:lvl5pPr indent="-2286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5pPr>
            <a:lvl6pPr indent="-2286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6pPr>
            <a:lvl7pPr indent="-2286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7pPr>
            <a:lvl8pPr indent="-2286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8pPr>
            <a:lvl9pPr indent="-2286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49" name="Google Shape;49;p3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spcBef>
                <a:spcPts val="840"/>
              </a:spcBef>
              <a:spcAft>
                <a:spcPts val="0"/>
              </a:spcAft>
              <a:buSzPts val="2160"/>
              <a:buChar char="●"/>
              <a:defRPr sz="2400"/>
            </a:lvl1pPr>
            <a:lvl2pPr indent="-330200" lvl="1" marL="914400" algn="l"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2000"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 sz="1800"/>
            </a:lvl3pPr>
            <a:lvl4pPr indent="-304800" lvl="3" marL="1828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–"/>
              <a:defRPr sz="1600"/>
            </a:lvl4pPr>
            <a:lvl5pPr indent="-3048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5pPr>
            <a:lvl6pPr indent="-3048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6pPr>
            <a:lvl7pPr indent="-3048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7pPr>
            <a:lvl8pPr indent="-3048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8pPr>
            <a:lvl9pPr indent="-3048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1480" lvl="0" marL="457200" algn="l">
              <a:spcBef>
                <a:spcPts val="1120"/>
              </a:spcBef>
              <a:spcAft>
                <a:spcPts val="0"/>
              </a:spcAft>
              <a:buSzPts val="2880"/>
              <a:buChar char="●"/>
              <a:defRPr sz="3200"/>
            </a:lvl1pPr>
            <a:lvl2pPr indent="-370840" lvl="1" marL="914400" algn="l">
              <a:spcBef>
                <a:spcPts val="980"/>
              </a:spcBef>
              <a:spcAft>
                <a:spcPts val="0"/>
              </a:spcAft>
              <a:buSzPts val="2240"/>
              <a:buChar char="●"/>
              <a:defRPr sz="2800"/>
            </a:lvl2pPr>
            <a:lvl3pPr indent="-342900" lvl="2" marL="1371600" algn="l">
              <a:spcBef>
                <a:spcPts val="840"/>
              </a:spcBef>
              <a:spcAft>
                <a:spcPts val="0"/>
              </a:spcAft>
              <a:buSzPts val="1800"/>
              <a:buChar char="4"/>
              <a:defRPr sz="2400"/>
            </a:lvl3pPr>
            <a:lvl4pPr indent="-323850" lvl="3" marL="18288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–"/>
              <a:defRPr sz="2000"/>
            </a:lvl4pPr>
            <a:lvl5pPr indent="-323850" lvl="4" marL="22860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5pPr>
            <a:lvl6pPr indent="-323850" lvl="5" marL="27432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6pPr>
            <a:lvl7pPr indent="-323850" lvl="6" marL="32004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7pPr>
            <a:lvl8pPr indent="-323850" lvl="7" marL="36576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8pPr>
            <a:lvl9pPr indent="-323850" lvl="8" marL="41148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9pPr>
          </a:lstStyle>
          <a:p/>
        </p:txBody>
      </p:sp>
      <p:sp>
        <p:nvSpPr>
          <p:cNvPr id="53" name="Google Shape;53;p3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90"/>
              </a:spcBef>
              <a:spcAft>
                <a:spcPts val="0"/>
              </a:spcAft>
              <a:buSzPts val="1260"/>
              <a:buNone/>
              <a:defRPr sz="14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4pPr>
            <a:lvl5pPr indent="-228600" lvl="4" marL="22860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5pPr>
            <a:lvl6pPr indent="-228600" lvl="5" marL="27432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6pPr>
            <a:lvl7pPr indent="-228600" lvl="6" marL="32004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7pPr>
            <a:lvl8pPr indent="-228600" lvl="7" marL="36576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8pPr>
            <a:lvl9pPr indent="-228600" lvl="8" marL="41148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3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90"/>
              </a:spcBef>
              <a:spcAft>
                <a:spcPts val="0"/>
              </a:spcAft>
              <a:buSzPts val="1260"/>
              <a:buNone/>
              <a:defRPr sz="14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4pPr>
            <a:lvl5pPr indent="-228600" lvl="4" marL="22860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5pPr>
            <a:lvl6pPr indent="-228600" lvl="5" marL="27432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6pPr>
            <a:lvl7pPr indent="-228600" lvl="6" marL="32004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7pPr>
            <a:lvl8pPr indent="-228600" lvl="7" marL="36576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8pPr>
            <a:lvl9pPr indent="-228600" lvl="8" marL="41148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5"/>
          <p:cNvSpPr txBox="1"/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5"/>
          <p:cNvSpPr txBox="1"/>
          <p:nvPr>
            <p:ph idx="1" type="body"/>
          </p:nvPr>
        </p:nvSpPr>
        <p:spPr>
          <a:xfrm rot="5400000">
            <a:off x="2655888" y="-615950"/>
            <a:ext cx="4530725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20040" lvl="1" marL="914400" algn="l"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indent="-314325" lvl="3" marL="1828800" algn="l">
              <a:spcBef>
                <a:spcPts val="630"/>
              </a:spcBef>
              <a:spcAft>
                <a:spcPts val="0"/>
              </a:spcAft>
              <a:buSzPts val="1350"/>
              <a:buChar char="–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6"/>
          <p:cNvSpPr txBox="1"/>
          <p:nvPr>
            <p:ph type="title"/>
          </p:nvPr>
        </p:nvSpPr>
        <p:spPr>
          <a:xfrm rot="5400000">
            <a:off x="5220494" y="1948657"/>
            <a:ext cx="5486400" cy="2144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6"/>
          <p:cNvSpPr txBox="1"/>
          <p:nvPr>
            <p:ph idx="1" type="body"/>
          </p:nvPr>
        </p:nvSpPr>
        <p:spPr>
          <a:xfrm rot="5400000">
            <a:off x="854869" y="-119856"/>
            <a:ext cx="5486400" cy="628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20040" lvl="1" marL="914400" algn="l"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indent="-314325" lvl="3" marL="1828800" algn="l">
              <a:spcBef>
                <a:spcPts val="630"/>
              </a:spcBef>
              <a:spcAft>
                <a:spcPts val="0"/>
              </a:spcAft>
              <a:buSzPts val="1350"/>
              <a:buChar char="–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6.jpg"/><Relationship Id="rId2" Type="http://schemas.openxmlformats.org/officeDocument/2006/relationships/image" Target="../media/image1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no_3" id="10" name="Google Shape;10;p2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5"/>
          <p:cNvSpPr txBox="1"/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5"/>
          <p:cNvSpPr txBox="1"/>
          <p:nvPr>
            <p:ph idx="1" type="body"/>
          </p:nvPr>
        </p:nvSpPr>
        <p:spPr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marR="0" rtl="0" algn="l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20040" lvl="1" marL="914400" marR="0" rtl="0" algn="l"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4325" lvl="2" marL="1371600" marR="0" rtl="0" algn="l"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4325" lvl="3" marL="1828800" marR="0" rtl="0" algn="l"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350"/>
              <a:buFont typeface="Helvetica Neue"/>
              <a:buChar char="–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4325" lvl="4" marL="22860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4325" lvl="5" marL="27432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4325" lvl="6" marL="32004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4325" lvl="7" marL="36576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4325" lvl="8" marL="41148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3" name="Google Shape;13;p25"/>
          <p:cNvSpPr/>
          <p:nvPr/>
        </p:nvSpPr>
        <p:spPr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" name="Google Shape;14;p25"/>
          <p:cNvCxnSpPr/>
          <p:nvPr/>
        </p:nvCxnSpPr>
        <p:spPr>
          <a:xfrm>
            <a:off x="457200" y="860425"/>
            <a:ext cx="8077200" cy="0"/>
          </a:xfrm>
          <a:prstGeom prst="straightConnector1">
            <a:avLst/>
          </a:prstGeom>
          <a:noFill/>
          <a:ln cap="flat" cmpd="sng" w="19050">
            <a:solidFill>
              <a:srgbClr val="33669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" name="Google Shape;15;p25"/>
          <p:cNvSpPr/>
          <p:nvPr/>
        </p:nvSpPr>
        <p:spPr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Google Shape;16;p25"/>
          <p:cNvSpPr/>
          <p:nvPr/>
        </p:nvSpPr>
        <p:spPr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Google Shape;17;p25"/>
          <p:cNvSpPr txBox="1"/>
          <p:nvPr/>
        </p:nvSpPr>
        <p:spPr>
          <a:xfrm>
            <a:off x="4222750" y="6613525"/>
            <a:ext cx="5143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10.</a:t>
            </a:r>
            <a:fld id="{00000000-1234-1234-1234-123412341234}" type="slidenum">
              <a:rPr b="1" i="0" lang="en-US" sz="1000" u="none" cap="none" strike="noStrik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1" i="0" sz="1000" u="none" cap="none" strike="noStrike">
              <a:solidFill>
                <a:srgbClr val="006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" name="Google Shape;18;p25"/>
          <p:cNvSpPr txBox="1"/>
          <p:nvPr/>
        </p:nvSpPr>
        <p:spPr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Silberschatz, Galvin and Gagne ©2009</a:t>
            </a:r>
            <a:endParaRPr/>
          </a:p>
        </p:txBody>
      </p:sp>
      <p:sp>
        <p:nvSpPr>
          <p:cNvPr id="19" name="Google Shape;19;p25"/>
          <p:cNvSpPr txBox="1"/>
          <p:nvPr/>
        </p:nvSpPr>
        <p:spPr>
          <a:xfrm>
            <a:off x="185738" y="6621463"/>
            <a:ext cx="26352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Operating System Concepts – 8</a:t>
            </a:r>
            <a:r>
              <a:rPr b="1" baseline="30000" i="0" lang="en-US" sz="1000" u="none" cap="none" strike="noStrik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b="1" i="0" lang="en-US" sz="1000" u="none" cap="none" strike="noStrik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Edition</a:t>
            </a:r>
            <a:endParaRPr/>
          </a:p>
        </p:txBody>
      </p:sp>
      <p:pic>
        <p:nvPicPr>
          <p:cNvPr descr="dino_6" id="20" name="Google Shape;20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/>
          <p:nvPr>
            <p:ph type="ctrTitle"/>
          </p:nvPr>
        </p:nvSpPr>
        <p:spPr>
          <a:xfrm>
            <a:off x="685800" y="685800"/>
            <a:ext cx="7772400" cy="2127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10:  </a:t>
            </a:r>
            <a:br>
              <a:rPr lang="en-US"/>
            </a:br>
            <a:r>
              <a:rPr lang="en-US"/>
              <a:t>File-System Interface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"/>
          <p:cNvSpPr txBox="1"/>
          <p:nvPr>
            <p:ph type="title"/>
          </p:nvPr>
        </p:nvSpPr>
        <p:spPr>
          <a:xfrm>
            <a:off x="757238" y="277813"/>
            <a:ext cx="792956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10:  File-System Interface</a:t>
            </a:r>
            <a:endParaRPr/>
          </a:p>
        </p:txBody>
      </p:sp>
      <p:sp>
        <p:nvSpPr>
          <p:cNvPr id="76" name="Google Shape;76;p2"/>
          <p:cNvSpPr txBox="1"/>
          <p:nvPr>
            <p:ph idx="4294967295" type="body"/>
          </p:nvPr>
        </p:nvSpPr>
        <p:spPr>
          <a:xfrm>
            <a:off x="806450" y="1233488"/>
            <a:ext cx="5705475" cy="3494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File Concept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Access Methods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Directory Structure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File Sharing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 txBox="1"/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File Concept</a:t>
            </a:r>
            <a:endParaRPr/>
          </a:p>
        </p:txBody>
      </p:sp>
      <p:sp>
        <p:nvSpPr>
          <p:cNvPr id="83" name="Google Shape;83;p3"/>
          <p:cNvSpPr txBox="1"/>
          <p:nvPr>
            <p:ph idx="4294967295" type="body"/>
          </p:nvPr>
        </p:nvSpPr>
        <p:spPr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Contiguous logical address space</a:t>
            </a:r>
            <a:br>
              <a:rPr lang="en-US"/>
            </a:b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Types: 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Data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350"/>
              <a:buChar char="4"/>
            </a:pPr>
            <a:r>
              <a:rPr lang="en-US"/>
              <a:t>numeric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350"/>
              <a:buChar char="4"/>
            </a:pPr>
            <a:r>
              <a:rPr lang="en-US"/>
              <a:t>character</a:t>
            </a:r>
            <a:endParaRPr/>
          </a:p>
          <a:p>
            <a:pPr indent="-228600" lvl="2" marL="1085850" rtl="0" algn="l">
              <a:spcBef>
                <a:spcPts val="630"/>
              </a:spcBef>
              <a:spcAft>
                <a:spcPts val="0"/>
              </a:spcAft>
              <a:buSzPts val="1350"/>
              <a:buChar char="4"/>
            </a:pPr>
            <a:r>
              <a:rPr lang="en-US"/>
              <a:t>binary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Program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 txBox="1"/>
          <p:nvPr>
            <p:ph type="title"/>
          </p:nvPr>
        </p:nvSpPr>
        <p:spPr>
          <a:xfrm>
            <a:off x="909638" y="277813"/>
            <a:ext cx="777716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File Structure</a:t>
            </a:r>
            <a:endParaRPr/>
          </a:p>
        </p:txBody>
      </p:sp>
      <p:sp>
        <p:nvSpPr>
          <p:cNvPr id="90" name="Google Shape;90;p4"/>
          <p:cNvSpPr txBox="1"/>
          <p:nvPr>
            <p:ph idx="4294967295" type="body"/>
          </p:nvPr>
        </p:nvSpPr>
        <p:spPr>
          <a:xfrm>
            <a:off x="806450" y="1233488"/>
            <a:ext cx="7686675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None - sequence of words, bytes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Simple record structure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Lines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Fixed length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Variable length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Complex Structures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Formatted document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Relocatable load file	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Can simulate last two with first method by inserting appropriate control characters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Who decides: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Operating system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Program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"/>
          <p:cNvSpPr txBox="1"/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File Attributes</a:t>
            </a:r>
            <a:endParaRPr/>
          </a:p>
        </p:txBody>
      </p:sp>
      <p:sp>
        <p:nvSpPr>
          <p:cNvPr id="97" name="Google Shape;97;p5"/>
          <p:cNvSpPr txBox="1"/>
          <p:nvPr>
            <p:ph idx="4294967295" type="body"/>
          </p:nvPr>
        </p:nvSpPr>
        <p:spPr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b="1" lang="en-US"/>
              <a:t>Name</a:t>
            </a:r>
            <a:r>
              <a:rPr lang="en-US"/>
              <a:t> – only information kept in human-readable form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b="1" lang="en-US"/>
              <a:t>Identifier</a:t>
            </a:r>
            <a:r>
              <a:rPr lang="en-US"/>
              <a:t> – unique tag (number) identifies file within file system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b="1" lang="en-US"/>
              <a:t>Type</a:t>
            </a:r>
            <a:r>
              <a:rPr lang="en-US"/>
              <a:t> – needed for systems that support different types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b="1" lang="en-US"/>
              <a:t>Location</a:t>
            </a:r>
            <a:r>
              <a:rPr lang="en-US"/>
              <a:t> – pointer to file location on device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b="1" lang="en-US"/>
              <a:t>Size</a:t>
            </a:r>
            <a:r>
              <a:rPr lang="en-US"/>
              <a:t> – current file size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b="1" lang="en-US"/>
              <a:t>Protection</a:t>
            </a:r>
            <a:r>
              <a:rPr lang="en-US"/>
              <a:t> – controls who can do reading, writing, executing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b="1" lang="en-US"/>
              <a:t>Time, date, and user identification</a:t>
            </a:r>
            <a:r>
              <a:rPr lang="en-US"/>
              <a:t> – data for protection, security, and usage monitoring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Information about files are kept in the directory structure, which is maintained on the disk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"/>
          <p:cNvSpPr txBox="1"/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File Operations</a:t>
            </a:r>
            <a:endParaRPr/>
          </a:p>
        </p:txBody>
      </p:sp>
      <p:sp>
        <p:nvSpPr>
          <p:cNvPr id="104" name="Google Shape;104;p6"/>
          <p:cNvSpPr txBox="1"/>
          <p:nvPr>
            <p:ph idx="4294967295" type="body"/>
          </p:nvPr>
        </p:nvSpPr>
        <p:spPr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File is an </a:t>
            </a:r>
            <a:r>
              <a:rPr b="1" lang="en-US"/>
              <a:t>abstract data type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b="1" lang="en-US"/>
              <a:t>Create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b="1" lang="en-US"/>
              <a:t>Write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b="1" lang="en-US"/>
              <a:t>Read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b="1" lang="en-US"/>
              <a:t>Reposition within file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b="1" lang="en-US"/>
              <a:t>Delete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b="1" lang="en-US"/>
              <a:t>Truncate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i="1" lang="en-US"/>
              <a:t>Open(F</a:t>
            </a:r>
            <a:r>
              <a:rPr baseline="-25000" i="1" lang="en-US"/>
              <a:t>i</a:t>
            </a:r>
            <a:r>
              <a:rPr i="1" lang="en-US"/>
              <a:t>)</a:t>
            </a:r>
            <a:r>
              <a:rPr lang="en-US"/>
              <a:t> – search the directory structure on disk for entry </a:t>
            </a:r>
            <a:r>
              <a:rPr i="1" lang="en-US"/>
              <a:t>F</a:t>
            </a:r>
            <a:r>
              <a:rPr baseline="-25000" i="1" lang="en-US"/>
              <a:t>i</a:t>
            </a:r>
            <a:r>
              <a:rPr lang="en-US"/>
              <a:t>, and move the content of entry to memory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i="1" lang="en-US"/>
              <a:t>Close (F</a:t>
            </a:r>
            <a:r>
              <a:rPr baseline="-25000" i="1" lang="en-US"/>
              <a:t>i</a:t>
            </a:r>
            <a:r>
              <a:rPr i="1" lang="en-US"/>
              <a:t>)</a:t>
            </a:r>
            <a:r>
              <a:rPr lang="en-US"/>
              <a:t> – move the content of entry </a:t>
            </a:r>
            <a:r>
              <a:rPr i="1" lang="en-US"/>
              <a:t>F</a:t>
            </a:r>
            <a:r>
              <a:rPr baseline="-25000" i="1" lang="en-US"/>
              <a:t>i</a:t>
            </a:r>
            <a:r>
              <a:rPr lang="en-US"/>
              <a:t> in memory to directory structure on disk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 txBox="1"/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 Files</a:t>
            </a:r>
            <a:endParaRPr/>
          </a:p>
        </p:txBody>
      </p:sp>
      <p:sp>
        <p:nvSpPr>
          <p:cNvPr id="111" name="Google Shape;111;p7"/>
          <p:cNvSpPr txBox="1"/>
          <p:nvPr>
            <p:ph idx="4294967295" type="body"/>
          </p:nvPr>
        </p:nvSpPr>
        <p:spPr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Several pieces of data are needed to manage open files: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File pointer:  pointer to last read/write location, per process that has the file open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File-open count: counter of number of times a file is open – to allow removal of data from open-file table when last processes closes it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Disk location of the file: cache of data access information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Access rights: per-process access mode information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"/>
          <p:cNvSpPr txBox="1"/>
          <p:nvPr>
            <p:ph type="title"/>
          </p:nvPr>
        </p:nvSpPr>
        <p:spPr>
          <a:xfrm>
            <a:off x="868363" y="277813"/>
            <a:ext cx="78184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File Types – Name, Extension</a:t>
            </a:r>
            <a:endParaRPr/>
          </a:p>
        </p:txBody>
      </p:sp>
      <p:pic>
        <p:nvPicPr>
          <p:cNvPr id="118" name="Google Shape;118;p8"/>
          <p:cNvPicPr preferRelativeResize="0"/>
          <p:nvPr/>
        </p:nvPicPr>
        <p:blipFill rotWithShape="1">
          <a:blip r:embed="rId3">
            <a:alphaModFix/>
          </a:blip>
          <a:srcRect b="1185" l="15715" r="15715" t="1186"/>
          <a:stretch/>
        </p:blipFill>
        <p:spPr>
          <a:xfrm>
            <a:off x="2209800" y="1250950"/>
            <a:ext cx="4654550" cy="4970463"/>
          </a:xfrm>
          <a:prstGeom prst="rect">
            <a:avLst/>
          </a:prstGeom>
          <a:noFill/>
          <a:ln cap="flat" cmpd="dbl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"/>
          <p:cNvSpPr txBox="1"/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Directory Structure</a:t>
            </a:r>
            <a:endParaRPr/>
          </a:p>
        </p:txBody>
      </p:sp>
      <p:sp>
        <p:nvSpPr>
          <p:cNvPr id="125" name="Google Shape;125;p10"/>
          <p:cNvSpPr txBox="1"/>
          <p:nvPr>
            <p:ph idx="4294967295" type="body"/>
          </p:nvPr>
        </p:nvSpPr>
        <p:spPr>
          <a:xfrm>
            <a:off x="966788" y="1374775"/>
            <a:ext cx="7370762" cy="354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A collection of nodes containing information about all files</a:t>
            </a:r>
            <a:endParaRPr/>
          </a:p>
        </p:txBody>
      </p:sp>
      <p:sp>
        <p:nvSpPr>
          <p:cNvPr id="126" name="Google Shape;126;p10"/>
          <p:cNvSpPr/>
          <p:nvPr/>
        </p:nvSpPr>
        <p:spPr>
          <a:xfrm>
            <a:off x="2819400" y="2286000"/>
            <a:ext cx="5334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3581400" y="2286000"/>
            <a:ext cx="5334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4343400" y="2286000"/>
            <a:ext cx="5334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5105400" y="2286000"/>
            <a:ext cx="5334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0" name="Google Shape;130;p10"/>
          <p:cNvSpPr/>
          <p:nvPr/>
        </p:nvSpPr>
        <p:spPr>
          <a:xfrm>
            <a:off x="5867400" y="2590800"/>
            <a:ext cx="533400" cy="457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2819400" y="4267200"/>
            <a:ext cx="457200" cy="60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 1</a:t>
            </a:r>
            <a:endParaRPr/>
          </a:p>
        </p:txBody>
      </p:sp>
      <p:sp>
        <p:nvSpPr>
          <p:cNvPr id="132" name="Google Shape;132;p10"/>
          <p:cNvSpPr/>
          <p:nvPr/>
        </p:nvSpPr>
        <p:spPr>
          <a:xfrm>
            <a:off x="3581400" y="4267200"/>
            <a:ext cx="457200" cy="53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 2</a:t>
            </a:r>
            <a:endParaRPr/>
          </a:p>
        </p:txBody>
      </p:sp>
      <p:sp>
        <p:nvSpPr>
          <p:cNvPr id="133" name="Google Shape;133;p10"/>
          <p:cNvSpPr/>
          <p:nvPr/>
        </p:nvSpPr>
        <p:spPr>
          <a:xfrm>
            <a:off x="4343400" y="4267200"/>
            <a:ext cx="457200" cy="838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 3</a:t>
            </a:r>
            <a:endParaRPr/>
          </a:p>
        </p:txBody>
      </p:sp>
      <p:sp>
        <p:nvSpPr>
          <p:cNvPr id="134" name="Google Shape;134;p10"/>
          <p:cNvSpPr/>
          <p:nvPr/>
        </p:nvSpPr>
        <p:spPr>
          <a:xfrm>
            <a:off x="5105400" y="4267200"/>
            <a:ext cx="457200" cy="45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 4</a:t>
            </a:r>
            <a:endParaRPr/>
          </a:p>
        </p:txBody>
      </p:sp>
      <p:sp>
        <p:nvSpPr>
          <p:cNvPr id="135" name="Google Shape;135;p10"/>
          <p:cNvSpPr/>
          <p:nvPr/>
        </p:nvSpPr>
        <p:spPr>
          <a:xfrm>
            <a:off x="5867400" y="4648200"/>
            <a:ext cx="457200" cy="60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 n</a:t>
            </a:r>
            <a:endParaRPr/>
          </a:p>
        </p:txBody>
      </p:sp>
      <p:cxnSp>
        <p:nvCxnSpPr>
          <p:cNvPr id="136" name="Google Shape;136;p10"/>
          <p:cNvCxnSpPr/>
          <p:nvPr/>
        </p:nvCxnSpPr>
        <p:spPr>
          <a:xfrm>
            <a:off x="3838575" y="2743200"/>
            <a:ext cx="0" cy="152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37" name="Google Shape;137;p10"/>
          <p:cNvCxnSpPr/>
          <p:nvPr/>
        </p:nvCxnSpPr>
        <p:spPr>
          <a:xfrm>
            <a:off x="4572000" y="2743200"/>
            <a:ext cx="0" cy="152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38" name="Google Shape;138;p10"/>
          <p:cNvCxnSpPr/>
          <p:nvPr/>
        </p:nvCxnSpPr>
        <p:spPr>
          <a:xfrm>
            <a:off x="6096000" y="3048000"/>
            <a:ext cx="0" cy="1600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39" name="Google Shape;139;p10"/>
          <p:cNvCxnSpPr/>
          <p:nvPr/>
        </p:nvCxnSpPr>
        <p:spPr>
          <a:xfrm>
            <a:off x="5334000" y="2743200"/>
            <a:ext cx="0" cy="152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40" name="Google Shape;140;p10"/>
          <p:cNvCxnSpPr/>
          <p:nvPr/>
        </p:nvCxnSpPr>
        <p:spPr>
          <a:xfrm>
            <a:off x="3048000" y="2743200"/>
            <a:ext cx="0" cy="152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41" name="Google Shape;141;p10"/>
          <p:cNvSpPr/>
          <p:nvPr/>
        </p:nvSpPr>
        <p:spPr>
          <a:xfrm>
            <a:off x="2538413" y="1962150"/>
            <a:ext cx="4186237" cy="1473200"/>
          </a:xfrm>
          <a:custGeom>
            <a:rect b="b" l="l" r="r" t="t"/>
            <a:pathLst>
              <a:path extrusionOk="0" h="928" w="2637">
                <a:moveTo>
                  <a:pt x="10" y="328"/>
                </a:moveTo>
                <a:cubicBezTo>
                  <a:pt x="14" y="291"/>
                  <a:pt x="6" y="248"/>
                  <a:pt x="28" y="219"/>
                </a:cubicBezTo>
                <a:cubicBezTo>
                  <a:pt x="124" y="92"/>
                  <a:pt x="264" y="66"/>
                  <a:pt x="410" y="37"/>
                </a:cubicBezTo>
                <a:cubicBezTo>
                  <a:pt x="516" y="16"/>
                  <a:pt x="457" y="14"/>
                  <a:pt x="583" y="10"/>
                </a:cubicBezTo>
                <a:cubicBezTo>
                  <a:pt x="728" y="5"/>
                  <a:pt x="874" y="3"/>
                  <a:pt x="1019" y="0"/>
                </a:cubicBezTo>
                <a:cubicBezTo>
                  <a:pt x="1146" y="3"/>
                  <a:pt x="1274" y="3"/>
                  <a:pt x="1401" y="10"/>
                </a:cubicBezTo>
                <a:cubicBezTo>
                  <a:pt x="1485" y="15"/>
                  <a:pt x="1571" y="41"/>
                  <a:pt x="1655" y="55"/>
                </a:cubicBezTo>
                <a:cubicBezTo>
                  <a:pt x="1733" y="86"/>
                  <a:pt x="1819" y="108"/>
                  <a:pt x="1901" y="128"/>
                </a:cubicBezTo>
                <a:cubicBezTo>
                  <a:pt x="1942" y="148"/>
                  <a:pt x="1975" y="152"/>
                  <a:pt x="2019" y="164"/>
                </a:cubicBezTo>
                <a:cubicBezTo>
                  <a:pt x="2098" y="185"/>
                  <a:pt x="2162" y="200"/>
                  <a:pt x="2246" y="210"/>
                </a:cubicBezTo>
                <a:cubicBezTo>
                  <a:pt x="2293" y="226"/>
                  <a:pt x="2338" y="230"/>
                  <a:pt x="2382" y="255"/>
                </a:cubicBezTo>
                <a:cubicBezTo>
                  <a:pt x="2439" y="287"/>
                  <a:pt x="2477" y="343"/>
                  <a:pt x="2519" y="391"/>
                </a:cubicBezTo>
                <a:cubicBezTo>
                  <a:pt x="2536" y="410"/>
                  <a:pt x="2562" y="423"/>
                  <a:pt x="2573" y="446"/>
                </a:cubicBezTo>
                <a:cubicBezTo>
                  <a:pt x="2594" y="488"/>
                  <a:pt x="2606" y="529"/>
                  <a:pt x="2619" y="573"/>
                </a:cubicBezTo>
                <a:cubicBezTo>
                  <a:pt x="2624" y="591"/>
                  <a:pt x="2637" y="628"/>
                  <a:pt x="2637" y="628"/>
                </a:cubicBezTo>
                <a:cubicBezTo>
                  <a:pt x="2634" y="654"/>
                  <a:pt x="2634" y="707"/>
                  <a:pt x="2619" y="737"/>
                </a:cubicBezTo>
                <a:cubicBezTo>
                  <a:pt x="2582" y="812"/>
                  <a:pt x="2477" y="854"/>
                  <a:pt x="2401" y="873"/>
                </a:cubicBezTo>
                <a:cubicBezTo>
                  <a:pt x="2341" y="911"/>
                  <a:pt x="2270" y="909"/>
                  <a:pt x="2201" y="919"/>
                </a:cubicBezTo>
                <a:cubicBezTo>
                  <a:pt x="1832" y="915"/>
                  <a:pt x="1500" y="928"/>
                  <a:pt x="1146" y="873"/>
                </a:cubicBezTo>
                <a:cubicBezTo>
                  <a:pt x="917" y="837"/>
                  <a:pt x="702" y="728"/>
                  <a:pt x="474" y="700"/>
                </a:cubicBezTo>
                <a:cubicBezTo>
                  <a:pt x="465" y="697"/>
                  <a:pt x="455" y="695"/>
                  <a:pt x="446" y="691"/>
                </a:cubicBezTo>
                <a:cubicBezTo>
                  <a:pt x="434" y="686"/>
                  <a:pt x="423" y="677"/>
                  <a:pt x="410" y="673"/>
                </a:cubicBezTo>
                <a:cubicBezTo>
                  <a:pt x="297" y="636"/>
                  <a:pt x="185" y="632"/>
                  <a:pt x="83" y="564"/>
                </a:cubicBezTo>
                <a:cubicBezTo>
                  <a:pt x="47" y="512"/>
                  <a:pt x="45" y="458"/>
                  <a:pt x="28" y="400"/>
                </a:cubicBezTo>
                <a:cubicBezTo>
                  <a:pt x="28" y="400"/>
                  <a:pt x="5" y="332"/>
                  <a:pt x="1" y="319"/>
                </a:cubicBezTo>
                <a:cubicBezTo>
                  <a:pt x="0" y="315"/>
                  <a:pt x="7" y="325"/>
                  <a:pt x="10" y="328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2" name="Google Shape;142;p10"/>
          <p:cNvSpPr/>
          <p:nvPr/>
        </p:nvSpPr>
        <p:spPr>
          <a:xfrm>
            <a:off x="2362200" y="3886200"/>
            <a:ext cx="4262438" cy="1600200"/>
          </a:xfrm>
          <a:custGeom>
            <a:rect b="b" l="l" r="r" t="t"/>
            <a:pathLst>
              <a:path extrusionOk="0" h="928" w="2637">
                <a:moveTo>
                  <a:pt x="10" y="328"/>
                </a:moveTo>
                <a:cubicBezTo>
                  <a:pt x="14" y="291"/>
                  <a:pt x="6" y="248"/>
                  <a:pt x="28" y="219"/>
                </a:cubicBezTo>
                <a:cubicBezTo>
                  <a:pt x="124" y="92"/>
                  <a:pt x="264" y="66"/>
                  <a:pt x="410" y="37"/>
                </a:cubicBezTo>
                <a:cubicBezTo>
                  <a:pt x="516" y="16"/>
                  <a:pt x="457" y="14"/>
                  <a:pt x="583" y="10"/>
                </a:cubicBezTo>
                <a:cubicBezTo>
                  <a:pt x="728" y="5"/>
                  <a:pt x="874" y="3"/>
                  <a:pt x="1019" y="0"/>
                </a:cubicBezTo>
                <a:cubicBezTo>
                  <a:pt x="1146" y="3"/>
                  <a:pt x="1274" y="3"/>
                  <a:pt x="1401" y="10"/>
                </a:cubicBezTo>
                <a:cubicBezTo>
                  <a:pt x="1485" y="15"/>
                  <a:pt x="1571" y="41"/>
                  <a:pt x="1655" y="55"/>
                </a:cubicBezTo>
                <a:cubicBezTo>
                  <a:pt x="1733" y="86"/>
                  <a:pt x="1819" y="108"/>
                  <a:pt x="1901" y="128"/>
                </a:cubicBezTo>
                <a:cubicBezTo>
                  <a:pt x="1942" y="148"/>
                  <a:pt x="1975" y="152"/>
                  <a:pt x="2019" y="164"/>
                </a:cubicBezTo>
                <a:cubicBezTo>
                  <a:pt x="2098" y="185"/>
                  <a:pt x="2162" y="200"/>
                  <a:pt x="2246" y="210"/>
                </a:cubicBezTo>
                <a:cubicBezTo>
                  <a:pt x="2293" y="226"/>
                  <a:pt x="2338" y="230"/>
                  <a:pt x="2382" y="255"/>
                </a:cubicBezTo>
                <a:cubicBezTo>
                  <a:pt x="2439" y="287"/>
                  <a:pt x="2477" y="343"/>
                  <a:pt x="2519" y="391"/>
                </a:cubicBezTo>
                <a:cubicBezTo>
                  <a:pt x="2536" y="410"/>
                  <a:pt x="2562" y="423"/>
                  <a:pt x="2573" y="446"/>
                </a:cubicBezTo>
                <a:cubicBezTo>
                  <a:pt x="2594" y="488"/>
                  <a:pt x="2606" y="529"/>
                  <a:pt x="2619" y="573"/>
                </a:cubicBezTo>
                <a:cubicBezTo>
                  <a:pt x="2624" y="591"/>
                  <a:pt x="2637" y="628"/>
                  <a:pt x="2637" y="628"/>
                </a:cubicBezTo>
                <a:cubicBezTo>
                  <a:pt x="2634" y="654"/>
                  <a:pt x="2634" y="707"/>
                  <a:pt x="2619" y="737"/>
                </a:cubicBezTo>
                <a:cubicBezTo>
                  <a:pt x="2582" y="812"/>
                  <a:pt x="2477" y="854"/>
                  <a:pt x="2401" y="873"/>
                </a:cubicBezTo>
                <a:cubicBezTo>
                  <a:pt x="2341" y="911"/>
                  <a:pt x="2270" y="909"/>
                  <a:pt x="2201" y="919"/>
                </a:cubicBezTo>
                <a:cubicBezTo>
                  <a:pt x="1832" y="915"/>
                  <a:pt x="1500" y="928"/>
                  <a:pt x="1146" y="873"/>
                </a:cubicBezTo>
                <a:cubicBezTo>
                  <a:pt x="917" y="837"/>
                  <a:pt x="702" y="728"/>
                  <a:pt x="474" y="700"/>
                </a:cubicBezTo>
                <a:cubicBezTo>
                  <a:pt x="465" y="697"/>
                  <a:pt x="455" y="695"/>
                  <a:pt x="446" y="691"/>
                </a:cubicBezTo>
                <a:cubicBezTo>
                  <a:pt x="434" y="686"/>
                  <a:pt x="423" y="677"/>
                  <a:pt x="410" y="673"/>
                </a:cubicBezTo>
                <a:cubicBezTo>
                  <a:pt x="297" y="636"/>
                  <a:pt x="185" y="632"/>
                  <a:pt x="83" y="564"/>
                </a:cubicBezTo>
                <a:cubicBezTo>
                  <a:pt x="47" y="512"/>
                  <a:pt x="45" y="458"/>
                  <a:pt x="28" y="400"/>
                </a:cubicBezTo>
                <a:cubicBezTo>
                  <a:pt x="28" y="400"/>
                  <a:pt x="5" y="332"/>
                  <a:pt x="1" y="319"/>
                </a:cubicBezTo>
                <a:cubicBezTo>
                  <a:pt x="0" y="315"/>
                  <a:pt x="7" y="325"/>
                  <a:pt x="10" y="328"/>
                </a:cubicBez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3" name="Google Shape;143;p10"/>
          <p:cNvSpPr txBox="1"/>
          <p:nvPr/>
        </p:nvSpPr>
        <p:spPr>
          <a:xfrm>
            <a:off x="1295400" y="2286000"/>
            <a:ext cx="10985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Directory</a:t>
            </a:r>
            <a:endParaRPr/>
          </a:p>
        </p:txBody>
      </p:sp>
      <p:sp>
        <p:nvSpPr>
          <p:cNvPr id="144" name="Google Shape;144;p10"/>
          <p:cNvSpPr txBox="1"/>
          <p:nvPr/>
        </p:nvSpPr>
        <p:spPr>
          <a:xfrm>
            <a:off x="1435100" y="4191000"/>
            <a:ext cx="6667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Files</a:t>
            </a:r>
            <a:endParaRPr/>
          </a:p>
        </p:txBody>
      </p:sp>
      <p:sp>
        <p:nvSpPr>
          <p:cNvPr id="145" name="Google Shape;145;p10"/>
          <p:cNvSpPr/>
          <p:nvPr/>
        </p:nvSpPr>
        <p:spPr>
          <a:xfrm>
            <a:off x="990600" y="5638800"/>
            <a:ext cx="760253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Both the directory structure and the files reside on disk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Backups of these two structures are kept on tapes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3"/>
          <p:cNvSpPr txBox="1"/>
          <p:nvPr>
            <p:ph type="title"/>
          </p:nvPr>
        </p:nvSpPr>
        <p:spPr>
          <a:xfrm>
            <a:off x="854075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Operations Performed on Directory</a:t>
            </a:r>
            <a:endParaRPr/>
          </a:p>
        </p:txBody>
      </p:sp>
      <p:sp>
        <p:nvSpPr>
          <p:cNvPr id="152" name="Google Shape;152;p13"/>
          <p:cNvSpPr txBox="1"/>
          <p:nvPr>
            <p:ph idx="4294967295" type="body"/>
          </p:nvPr>
        </p:nvSpPr>
        <p:spPr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Search for a file</a:t>
            </a:r>
            <a:endParaRPr/>
          </a:p>
          <a:p>
            <a:pPr indent="-297180" lvl="0" marL="342900" rtl="0" algn="l">
              <a:spcBef>
                <a:spcPts val="280"/>
              </a:spcBef>
              <a:spcAft>
                <a:spcPts val="0"/>
              </a:spcAft>
              <a:buSzPts val="720"/>
              <a:buNone/>
            </a:pPr>
            <a:r>
              <a:t/>
            </a:r>
            <a:endParaRPr sz="800"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Create a file</a:t>
            </a:r>
            <a:endParaRPr/>
          </a:p>
          <a:p>
            <a:pPr indent="-297180" lvl="0" marL="342900" rtl="0" algn="l">
              <a:spcBef>
                <a:spcPts val="280"/>
              </a:spcBef>
              <a:spcAft>
                <a:spcPts val="0"/>
              </a:spcAft>
              <a:buSzPts val="720"/>
              <a:buNone/>
            </a:pPr>
            <a:r>
              <a:t/>
            </a:r>
            <a:endParaRPr sz="800"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Delete a file</a:t>
            </a:r>
            <a:endParaRPr/>
          </a:p>
          <a:p>
            <a:pPr indent="-297180" lvl="0" marL="342900" rtl="0" algn="l">
              <a:spcBef>
                <a:spcPts val="280"/>
              </a:spcBef>
              <a:spcAft>
                <a:spcPts val="0"/>
              </a:spcAft>
              <a:buSzPts val="720"/>
              <a:buNone/>
            </a:pPr>
            <a:r>
              <a:t/>
            </a:r>
            <a:endParaRPr sz="800"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List a directory</a:t>
            </a:r>
            <a:endParaRPr/>
          </a:p>
          <a:p>
            <a:pPr indent="-297180" lvl="0" marL="342900" rtl="0" algn="l">
              <a:spcBef>
                <a:spcPts val="280"/>
              </a:spcBef>
              <a:spcAft>
                <a:spcPts val="0"/>
              </a:spcAft>
              <a:buSzPts val="720"/>
              <a:buNone/>
            </a:pPr>
            <a:r>
              <a:t/>
            </a:r>
            <a:endParaRPr sz="800"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Rename a file</a:t>
            </a:r>
            <a:endParaRPr/>
          </a:p>
          <a:p>
            <a:pPr indent="-297180" lvl="0" marL="342900" rtl="0" algn="l">
              <a:spcBef>
                <a:spcPts val="280"/>
              </a:spcBef>
              <a:spcAft>
                <a:spcPts val="0"/>
              </a:spcAft>
              <a:buSzPts val="720"/>
              <a:buNone/>
            </a:pPr>
            <a:r>
              <a:t/>
            </a:r>
            <a:endParaRPr sz="800"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Traverse the file system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"/>
          <p:cNvSpPr txBox="1"/>
          <p:nvPr>
            <p:ph type="title"/>
          </p:nvPr>
        </p:nvSpPr>
        <p:spPr>
          <a:xfrm>
            <a:off x="1052513" y="409575"/>
            <a:ext cx="77438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Organize the Directory </a:t>
            </a:r>
            <a:br>
              <a:rPr lang="en-US" sz="2800"/>
            </a:br>
            <a:r>
              <a:rPr lang="en-US" sz="2800"/>
              <a:t>(Logically) to Obtain</a:t>
            </a:r>
            <a:endParaRPr/>
          </a:p>
        </p:txBody>
      </p:sp>
      <p:sp>
        <p:nvSpPr>
          <p:cNvPr id="159" name="Google Shape;159;p14"/>
          <p:cNvSpPr txBox="1"/>
          <p:nvPr>
            <p:ph idx="4294967295" type="body"/>
          </p:nvPr>
        </p:nvSpPr>
        <p:spPr>
          <a:xfrm>
            <a:off x="806450" y="1303338"/>
            <a:ext cx="7270750" cy="446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Efficiency – locating a file quickly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Naming – convenient to users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Two users can have same name for different files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The same file can have several different names</a:t>
            </a:r>
            <a:endParaRPr/>
          </a:p>
          <a:p>
            <a:pPr indent="-194309" lvl="1" marL="742950" rtl="0" algn="l"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Grouping – logical grouping of files by properties, (e.g., all Java programs, all games, …)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"/>
          <p:cNvSpPr txBox="1"/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Single-Level Directory</a:t>
            </a:r>
            <a:endParaRPr sz="2400"/>
          </a:p>
        </p:txBody>
      </p:sp>
      <p:sp>
        <p:nvSpPr>
          <p:cNvPr id="166" name="Google Shape;166;p15"/>
          <p:cNvSpPr txBox="1"/>
          <p:nvPr>
            <p:ph idx="4294967295" type="body"/>
          </p:nvPr>
        </p:nvSpPr>
        <p:spPr>
          <a:xfrm>
            <a:off x="771525" y="1482725"/>
            <a:ext cx="7029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A single directory for all users</a:t>
            </a:r>
            <a:endParaRPr/>
          </a:p>
        </p:txBody>
      </p:sp>
      <p:sp>
        <p:nvSpPr>
          <p:cNvPr id="167" name="Google Shape;167;p15"/>
          <p:cNvSpPr/>
          <p:nvPr/>
        </p:nvSpPr>
        <p:spPr>
          <a:xfrm>
            <a:off x="1050925" y="4238625"/>
            <a:ext cx="7123113" cy="1019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Naming problem</a:t>
            </a:r>
            <a:b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Grouping problem</a:t>
            </a:r>
            <a:endParaRPr/>
          </a:p>
        </p:txBody>
      </p:sp>
      <p:pic>
        <p:nvPicPr>
          <p:cNvPr id="168" name="Google Shape;16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2100263"/>
            <a:ext cx="7077075" cy="1722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"/>
          <p:cNvSpPr txBox="1"/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Two-Level Directory</a:t>
            </a:r>
            <a:endParaRPr sz="2400"/>
          </a:p>
        </p:txBody>
      </p:sp>
      <p:sp>
        <p:nvSpPr>
          <p:cNvPr id="175" name="Google Shape;175;p16"/>
          <p:cNvSpPr txBox="1"/>
          <p:nvPr>
            <p:ph idx="4294967295" type="body"/>
          </p:nvPr>
        </p:nvSpPr>
        <p:spPr>
          <a:xfrm>
            <a:off x="806450" y="1233488"/>
            <a:ext cx="7869238" cy="555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Separate directory for each user</a:t>
            </a:r>
            <a:endParaRPr/>
          </a:p>
        </p:txBody>
      </p:sp>
      <p:sp>
        <p:nvSpPr>
          <p:cNvPr id="176" name="Google Shape;176;p16"/>
          <p:cNvSpPr/>
          <p:nvPr/>
        </p:nvSpPr>
        <p:spPr>
          <a:xfrm>
            <a:off x="798513" y="4575175"/>
            <a:ext cx="7002462" cy="14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Path name</a:t>
            </a:r>
            <a:endParaRPr/>
          </a:p>
          <a:p>
            <a:pPr indent="-342900" lvl="0" marL="342900" marR="0" rtl="0" algn="l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have the same file name for different user</a:t>
            </a:r>
            <a:endParaRPr/>
          </a:p>
          <a:p>
            <a:pPr indent="-342900" lvl="0" marL="342900" marR="0" rtl="0" algn="l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Efficient searching</a:t>
            </a:r>
            <a:endParaRPr/>
          </a:p>
          <a:p>
            <a:pPr indent="-342900" lvl="0" marL="342900" marR="0" rtl="0" algn="l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grouping capability</a:t>
            </a:r>
            <a:endParaRPr/>
          </a:p>
        </p:txBody>
      </p:sp>
      <p:pic>
        <p:nvPicPr>
          <p:cNvPr id="177" name="Google Shape;17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2688" y="1887538"/>
            <a:ext cx="7102475" cy="242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"/>
          <p:cNvSpPr txBox="1"/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Tree-Structured Directories</a:t>
            </a:r>
            <a:endParaRPr/>
          </a:p>
        </p:txBody>
      </p:sp>
      <p:pic>
        <p:nvPicPr>
          <p:cNvPr id="184" name="Google Shape;18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0000" y="1385888"/>
            <a:ext cx="7305675" cy="465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 txBox="1"/>
          <p:nvPr>
            <p:ph type="title"/>
          </p:nvPr>
        </p:nvSpPr>
        <p:spPr>
          <a:xfrm>
            <a:off x="7747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Tree-Structured Directories (Cont.)</a:t>
            </a:r>
            <a:endParaRPr/>
          </a:p>
        </p:txBody>
      </p:sp>
      <p:sp>
        <p:nvSpPr>
          <p:cNvPr id="191" name="Google Shape;191;p18"/>
          <p:cNvSpPr txBox="1"/>
          <p:nvPr>
            <p:ph idx="4294967295" type="body"/>
          </p:nvPr>
        </p:nvSpPr>
        <p:spPr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Efficient searching</a:t>
            </a:r>
            <a:br>
              <a:rPr lang="en-US"/>
            </a:b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Grouping Capability</a:t>
            </a:r>
            <a:br>
              <a:rPr lang="en-US"/>
            </a:b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Current directory (working directory)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440"/>
              <a:buChar char="●"/>
            </a:pPr>
            <a:r>
              <a:rPr b="1" lang="en-US">
                <a:solidFill>
                  <a:srgbClr val="3366FF"/>
                </a:solidFill>
              </a:rPr>
              <a:t>cd /spell/mail/prog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440"/>
              <a:buChar char="●"/>
            </a:pPr>
            <a:r>
              <a:rPr b="1" lang="en-US">
                <a:solidFill>
                  <a:srgbClr val="3366FF"/>
                </a:solidFill>
              </a:rPr>
              <a:t>type list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"/>
          <p:cNvSpPr txBox="1"/>
          <p:nvPr>
            <p:ph type="title"/>
          </p:nvPr>
        </p:nvSpPr>
        <p:spPr>
          <a:xfrm>
            <a:off x="711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Tree-Structured Directories (Cont)</a:t>
            </a:r>
            <a:endParaRPr/>
          </a:p>
        </p:txBody>
      </p:sp>
      <p:sp>
        <p:nvSpPr>
          <p:cNvPr id="198" name="Google Shape;198;p19"/>
          <p:cNvSpPr txBox="1"/>
          <p:nvPr>
            <p:ph idx="4294967295" type="body"/>
          </p:nvPr>
        </p:nvSpPr>
        <p:spPr>
          <a:xfrm>
            <a:off x="820738" y="1290638"/>
            <a:ext cx="7370762" cy="2992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b="1" lang="en-US"/>
              <a:t>Absolute</a:t>
            </a:r>
            <a:r>
              <a:rPr lang="en-US"/>
              <a:t> or </a:t>
            </a:r>
            <a:r>
              <a:rPr b="1" lang="en-US"/>
              <a:t>relative</a:t>
            </a:r>
            <a:r>
              <a:rPr lang="en-US"/>
              <a:t> path name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Creating a new file is done in current directory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Delete a file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/>
              <a:t>		</a:t>
            </a:r>
            <a:r>
              <a:rPr b="1" lang="en-US">
                <a:solidFill>
                  <a:srgbClr val="3366FF"/>
                </a:solidFill>
              </a:rPr>
              <a:t>rm &lt;file-name&gt;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Creating a new subdirectory is done in current directory</a:t>
            </a:r>
            <a:endParaRPr/>
          </a:p>
          <a:p>
            <a:pPr indent="-285750" lvl="1" marL="6286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Font typeface="Arial"/>
              <a:buNone/>
            </a:pPr>
            <a:r>
              <a:rPr lang="en-US"/>
              <a:t>		</a:t>
            </a:r>
            <a:r>
              <a:rPr b="1" lang="en-US">
                <a:solidFill>
                  <a:srgbClr val="3366FF"/>
                </a:solidFill>
              </a:rPr>
              <a:t>mkdir &lt;dir-name&gt;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/>
              <a:t>	Example:  if in current directory   </a:t>
            </a:r>
            <a:r>
              <a:rPr b="1" lang="en-US">
                <a:solidFill>
                  <a:srgbClr val="3366FF"/>
                </a:solidFill>
              </a:rPr>
              <a:t>/mail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/>
              <a:t>		</a:t>
            </a:r>
            <a:r>
              <a:rPr b="1" lang="en-US">
                <a:solidFill>
                  <a:srgbClr val="3366FF"/>
                </a:solidFill>
              </a:rPr>
              <a:t>mkdir count</a:t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3724275" y="4589463"/>
            <a:ext cx="879475" cy="33178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mail</a:t>
            </a:r>
            <a:endParaRPr/>
          </a:p>
        </p:txBody>
      </p:sp>
      <p:sp>
        <p:nvSpPr>
          <p:cNvPr id="200" name="Google Shape;200;p19"/>
          <p:cNvSpPr/>
          <p:nvPr/>
        </p:nvSpPr>
        <p:spPr>
          <a:xfrm>
            <a:off x="2533650" y="5232400"/>
            <a:ext cx="720725" cy="33178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</a:t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3254375" y="5232400"/>
            <a:ext cx="720725" cy="33178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copy</a:t>
            </a: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3975100" y="5232400"/>
            <a:ext cx="446088" cy="33178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prt</a:t>
            </a:r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4416425" y="5232400"/>
            <a:ext cx="446088" cy="33178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</a:t>
            </a:r>
            <a:endParaRPr/>
          </a:p>
        </p:txBody>
      </p:sp>
      <p:sp>
        <p:nvSpPr>
          <p:cNvPr id="204" name="Google Shape;204;p19"/>
          <p:cNvSpPr/>
          <p:nvPr/>
        </p:nvSpPr>
        <p:spPr>
          <a:xfrm>
            <a:off x="4862513" y="5232400"/>
            <a:ext cx="706437" cy="33178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count</a:t>
            </a:r>
            <a:endParaRPr/>
          </a:p>
        </p:txBody>
      </p:sp>
      <p:cxnSp>
        <p:nvCxnSpPr>
          <p:cNvPr id="205" name="Google Shape;205;p19"/>
          <p:cNvCxnSpPr/>
          <p:nvPr/>
        </p:nvCxnSpPr>
        <p:spPr>
          <a:xfrm>
            <a:off x="3881438" y="4921250"/>
            <a:ext cx="0" cy="307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p19"/>
          <p:cNvSpPr/>
          <p:nvPr/>
        </p:nvSpPr>
        <p:spPr>
          <a:xfrm>
            <a:off x="852488" y="5902325"/>
            <a:ext cx="7423150" cy="334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Deleting “mail” ⇒ deleting the entire subtree rooted by “mail”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"/>
          <p:cNvSpPr txBox="1"/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Acyclic-Graph Directories</a:t>
            </a:r>
            <a:endParaRPr sz="2400"/>
          </a:p>
        </p:txBody>
      </p:sp>
      <p:sp>
        <p:nvSpPr>
          <p:cNvPr id="213" name="Google Shape;213;p20"/>
          <p:cNvSpPr txBox="1"/>
          <p:nvPr>
            <p:ph idx="4294967295" type="body"/>
          </p:nvPr>
        </p:nvSpPr>
        <p:spPr>
          <a:xfrm>
            <a:off x="768350" y="1262063"/>
            <a:ext cx="7029450" cy="52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Have shared subdirectories and files</a:t>
            </a:r>
            <a:endParaRPr/>
          </a:p>
        </p:txBody>
      </p:sp>
      <p:pic>
        <p:nvPicPr>
          <p:cNvPr descr="10" id="214" name="Google Shape;21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2963" y="1825625"/>
            <a:ext cx="5351462" cy="432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"/>
          <p:cNvSpPr txBox="1"/>
          <p:nvPr>
            <p:ph type="title"/>
          </p:nvPr>
        </p:nvSpPr>
        <p:spPr>
          <a:xfrm>
            <a:off x="968375" y="277813"/>
            <a:ext cx="77184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Acyclic-Graph Directories (Cont.)</a:t>
            </a:r>
            <a:endParaRPr/>
          </a:p>
        </p:txBody>
      </p:sp>
      <p:sp>
        <p:nvSpPr>
          <p:cNvPr id="221" name="Google Shape;221;p21"/>
          <p:cNvSpPr txBox="1"/>
          <p:nvPr>
            <p:ph idx="4294967295" type="body"/>
          </p:nvPr>
        </p:nvSpPr>
        <p:spPr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Two different names (aliasing)</a:t>
            </a:r>
            <a:br>
              <a:rPr lang="en-US"/>
            </a:b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If </a:t>
            </a:r>
            <a:r>
              <a:rPr i="1" lang="en-US"/>
              <a:t>dict</a:t>
            </a:r>
            <a:r>
              <a:rPr lang="en-US"/>
              <a:t> deletes </a:t>
            </a:r>
            <a:r>
              <a:rPr i="1" lang="en-US"/>
              <a:t>list</a:t>
            </a:r>
            <a:r>
              <a:rPr lang="en-US"/>
              <a:t> ⇒ dangling pointer</a:t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Font typeface="Arial"/>
              <a:buNone/>
            </a:pPr>
            <a:r>
              <a:rPr lang="en-US"/>
              <a:t>	Solutions: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Backpointers, so we can delete all pointers</a:t>
            </a:r>
            <a:br>
              <a:rPr lang="en-US"/>
            </a:br>
            <a:r>
              <a:rPr lang="en-US"/>
              <a:t>Variable size records a problem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Backpointers using a daisy chain organization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Entry-hold-count solution</a:t>
            </a:r>
            <a:endParaRPr/>
          </a:p>
          <a:p>
            <a:pPr indent="-194309" lvl="1" marL="742950" rtl="0" algn="l"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3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New directory entry type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440"/>
              <a:buChar char="●"/>
            </a:pPr>
            <a:r>
              <a:rPr b="1" lang="en-US"/>
              <a:t>Link</a:t>
            </a:r>
            <a:r>
              <a:rPr lang="en-US"/>
              <a:t> – another name (pointer) to an existing file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440"/>
              <a:buChar char="●"/>
            </a:pPr>
            <a:r>
              <a:rPr b="1" lang="en-US"/>
              <a:t>Resolve the link</a:t>
            </a:r>
            <a:r>
              <a:rPr lang="en-US"/>
              <a:t> – follow pointer to locate the file</a:t>
            </a:r>
            <a:endParaRPr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2"/>
          <p:cNvSpPr txBox="1"/>
          <p:nvPr>
            <p:ph type="title"/>
          </p:nvPr>
        </p:nvSpPr>
        <p:spPr>
          <a:xfrm>
            <a:off x="1030288" y="277813"/>
            <a:ext cx="765651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General Graph Directory</a:t>
            </a:r>
            <a:endParaRPr sz="2400"/>
          </a:p>
        </p:txBody>
      </p:sp>
      <p:pic>
        <p:nvPicPr>
          <p:cNvPr descr="10" id="228" name="Google Shape;22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5975" y="1260475"/>
            <a:ext cx="7235825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3"/>
          <p:cNvSpPr txBox="1"/>
          <p:nvPr>
            <p:ph type="title"/>
          </p:nvPr>
        </p:nvSpPr>
        <p:spPr>
          <a:xfrm>
            <a:off x="979488" y="277813"/>
            <a:ext cx="770731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General Graph Directory (Cont.)</a:t>
            </a:r>
            <a:endParaRPr/>
          </a:p>
        </p:txBody>
      </p:sp>
      <p:sp>
        <p:nvSpPr>
          <p:cNvPr id="235" name="Google Shape;235;p23"/>
          <p:cNvSpPr txBox="1"/>
          <p:nvPr>
            <p:ph idx="4294967295" type="body"/>
          </p:nvPr>
        </p:nvSpPr>
        <p:spPr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20"/>
              <a:buChar char="●"/>
            </a:pPr>
            <a:r>
              <a:rPr lang="en-US"/>
              <a:t>How do we guarantee no cycles?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Allow only links to file not subdirectories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Garbage collection</a:t>
            </a:r>
            <a:endParaRPr/>
          </a:p>
          <a:p>
            <a:pPr indent="-285750" lvl="1" marL="742950" rtl="0" algn="l">
              <a:spcBef>
                <a:spcPts val="630"/>
              </a:spcBef>
              <a:spcAft>
                <a:spcPts val="0"/>
              </a:spcAft>
              <a:buSzPts val="1440"/>
              <a:buChar char="●"/>
            </a:pPr>
            <a:r>
              <a:rPr lang="en-US"/>
              <a:t>Every time a new link is added use a cycle detection algorithm to determine whether it is OK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4"/>
          <p:cNvSpPr txBox="1"/>
          <p:nvPr>
            <p:ph type="ctrTitle"/>
          </p:nvPr>
        </p:nvSpPr>
        <p:spPr>
          <a:xfrm>
            <a:off x="685800" y="685800"/>
            <a:ext cx="7772400" cy="2127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End of Chapter 10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2004-10-07T18:29:30Z</dcterms:created>
  <dc:creator>Lucent End User</dc:creator>
</cp:coreProperties>
</file>