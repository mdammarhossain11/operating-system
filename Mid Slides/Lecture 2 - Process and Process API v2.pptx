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2000"/>
  <p:notesSz cx="6858000" cy="9144000"/>
  <p:embeddedFontLst>
    <p:embeddedFont>
      <p:font typeface="Basic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56" roundtripDataSignature="AMtx7mhKumXjvg/f+6zJjyLEnFLH8sdt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Basic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216b7b10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7216b7b10f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216b7b10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7216b7b10f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216b7b1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37216b7b10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216b7b10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7216b7b10f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9af34d2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g339af34d245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7216b7b10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g37216b7b10f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721ec15e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g3721ec15e1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17d8f31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g317d8f31d0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72a991db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g372a991dba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72a991dba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g372a991dba8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72a991dba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g372a991dba8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72a991dba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g372a991dba8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72a991dba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g372a991dba8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72a991dba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6" name="Google Shape;566;g372a991dba8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8" name="Google Shape;57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6" name="Google Shape;58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4" name="Google Shape;59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jpg"/><Relationship Id="rId4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jpg"/><Relationship Id="rId4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jpg"/><Relationship Id="rId4" Type="http://schemas.openxmlformats.org/officeDocument/2006/relationships/image" Target="../media/image22.png"/><Relationship Id="rId5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jp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jpg"/><Relationship Id="rId4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jpg"/><Relationship Id="rId4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jpg"/><Relationship Id="rId4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jpg"/><Relationship Id="rId4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jpg"/><Relationship Id="rId4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jp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jp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jp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jpg"/><Relationship Id="rId4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jpg"/><Relationship Id="rId4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jpg"/><Relationship Id="rId4" Type="http://schemas.openxmlformats.org/officeDocument/2006/relationships/image" Target="../media/image2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perating Systems: Three Easy Pieces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07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5624051" y="1248697"/>
            <a:ext cx="578136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 Process and Process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(Chapter 4 &amp; 5)</a:t>
            </a:r>
            <a:endParaRPr b="0" i="0" sz="48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584722" y="4218039"/>
            <a:ext cx="58600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Prepared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Azizur Rahman Anik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Lecturer, department of CSE, UIU</a:t>
            </a:r>
            <a:endParaRPr b="0" i="0" sz="32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b="1" lang="en-US">
                <a:latin typeface="Basic"/>
                <a:ea typeface="Basic"/>
                <a:cs typeface="Basic"/>
                <a:sym typeface="Basic"/>
              </a:rPr>
              <a:t>Chapter 4: The Process</a:t>
            </a:r>
            <a:endParaRPr b="1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2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5873" y="2941074"/>
            <a:ext cx="912495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The Process: </a:t>
            </a:r>
            <a:r>
              <a:rPr b="1" lang="en-US"/>
              <a:t>THE CRUX OF THE PROBLEM</a:t>
            </a:r>
            <a:r>
              <a:rPr lang="en-US"/>
              <a:t> </a:t>
            </a:r>
            <a:r>
              <a:rPr lang="en-US">
                <a:latin typeface="Basic"/>
                <a:ea typeface="Basic"/>
                <a:cs typeface="Basic"/>
                <a:sym typeface="Basic"/>
              </a:rPr>
              <a:t> 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3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3"/>
          <p:cNvSpPr txBox="1"/>
          <p:nvPr/>
        </p:nvSpPr>
        <p:spPr>
          <a:xfrm>
            <a:off x="835741" y="1879505"/>
            <a:ext cx="1088431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PROVIDE THE ILLUSION OF MANY CPUS?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Although there are only a few physical CPUs available, how can the OS provide the illusion of a nearly-endless supply of said CPUs?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835741" y="3676850"/>
            <a:ext cx="9960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 OS creates this illusion by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virtualizing the 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By running one process, then stopping it and running another, and so forth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Promotes the illusion that many virtual CPUs exist when in fact there is only one physical CPU (or a few</a:t>
            </a:r>
            <a:r>
              <a:rPr lang="en-US" sz="2400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Basic technique: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Time sharing of the CPU</a:t>
            </a:r>
            <a:endParaRPr b="1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The Abstraction: A Process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4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4"/>
          <p:cNvSpPr txBox="1"/>
          <p:nvPr/>
        </p:nvSpPr>
        <p:spPr>
          <a:xfrm>
            <a:off x="835741" y="1879505"/>
            <a:ext cx="1088431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 Process is simply a running program.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 Process has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Memory: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Instructions, data lie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Registers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Program counter (PC) or Instruction pointer (IP):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which instruction of the program will execute 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Stack pointer and frame pointer: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manages the stack for function parameters, local variable and return addresses.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I/O information: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a list of the files the process currently has open.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Process API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5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5"/>
          <p:cNvSpPr txBox="1"/>
          <p:nvPr/>
        </p:nvSpPr>
        <p:spPr>
          <a:xfrm>
            <a:off x="835741" y="1879505"/>
            <a:ext cx="10884310" cy="4556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b="1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What must be included in any interface of an operating system?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Create: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To create new process. When you type a command into the shell, or double-click on an application icon, the OS is invoked to create a new process to run the program.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Destroy: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To destroy processes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forcefully (When they don’t exit by themselves)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Wait: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wait for a process to stop running.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Miscellaneous Control: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Other than killing or waiting for a process.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Status: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how long a process has run, or what state it is in.</a:t>
            </a:r>
            <a:endParaRPr b="1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Loading From Program to Process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6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4982" y="1759974"/>
            <a:ext cx="4795069" cy="479506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 txBox="1"/>
          <p:nvPr/>
        </p:nvSpPr>
        <p:spPr>
          <a:xfrm>
            <a:off x="462126" y="1759975"/>
            <a:ext cx="75621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Programs initially resides on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disk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, in executable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In early OS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: the loading process is done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eagerly (all at once)</a:t>
            </a:r>
            <a:b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In modern OS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: the loading process is done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lazily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Once the code and static data are loaded in memory, the OS allocates run-time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stack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Allocates memory for the program’s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heap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Some initialization tasks for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I/O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Process States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7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7"/>
          <p:cNvSpPr txBox="1"/>
          <p:nvPr/>
        </p:nvSpPr>
        <p:spPr>
          <a:xfrm>
            <a:off x="462116" y="1759974"/>
            <a:ext cx="6695768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Running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: A process is running on a processor. (Executing instructions)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Ready: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A process is ready to run, but for some reason the OS has chosen not to run it at this given moment.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Blocked: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A process has performed some kind of operating that makes it not ready to run until some other event takes place. (I/O request to disk)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7552" y="1874119"/>
            <a:ext cx="5134448" cy="4408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Process States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8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5" name="Google Shape;1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0658" y="1908995"/>
            <a:ext cx="7264962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395748" y="1651819"/>
            <a:ext cx="4109884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Embryo/Starting: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When a program is loaded, it is in Embryo state. A memory is initialized for the process.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Ending/Zombie: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When it has exited but has not yet been cleaned up. Allows other process (usually the parent that created the process) to examine the return code of the process.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1352086" y="6211669"/>
            <a:ext cx="105635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Acknowledgement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: This snapshot is a class note from the class of Rayhan Rashed Sir, Assistant Professor of BUET and the class note is written by Maneesha Rani Saha, a former undergraduate student of BUET</a:t>
            </a:r>
            <a:endParaRPr b="0" i="0" sz="18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Process States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9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5" name="Google Shape;15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1084" y="1759974"/>
            <a:ext cx="7839075" cy="4571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Process States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10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3" name="Google Shape;1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0690" y="1885028"/>
            <a:ext cx="7086600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Data Structures for OS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11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1" name="Google Shape;17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6533" y="2005779"/>
            <a:ext cx="805815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1"/>
          <p:cNvSpPr txBox="1"/>
          <p:nvPr/>
        </p:nvSpPr>
        <p:spPr>
          <a:xfrm>
            <a:off x="462116" y="2005779"/>
            <a:ext cx="3283974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Context Switch: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When a process is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stopped (not killed)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, its registers will be saved to this memory location. By restoring these registers ( placing their values back into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actual physical registers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), the OS can resume the running process.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Data Structures for OS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78" name="Google Shape;1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12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0" name="Google Shape;18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443" y="1759974"/>
            <a:ext cx="7659362" cy="491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Aside: Key Process Terms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86" name="Google Shape;1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13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8" name="Google Shape;188;p13"/>
          <p:cNvPicPr preferRelativeResize="0"/>
          <p:nvPr/>
        </p:nvPicPr>
        <p:blipFill rotWithShape="1">
          <a:blip r:embed="rId4">
            <a:alphaModFix/>
          </a:blip>
          <a:srcRect b="0" l="0" r="0" t="10343"/>
          <a:stretch/>
        </p:blipFill>
        <p:spPr>
          <a:xfrm>
            <a:off x="2172929" y="1759974"/>
            <a:ext cx="7611703" cy="5116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Some Practice Questions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194" name="Google Shape;1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14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14"/>
          <p:cNvSpPr txBox="1"/>
          <p:nvPr/>
        </p:nvSpPr>
        <p:spPr>
          <a:xfrm>
            <a:off x="1602658" y="2163097"/>
            <a:ext cx="975114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What must be included in any interface of an operating system?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How a program is loaded to process?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Draw and explain the different states a process can be in any given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2290915" y="4521033"/>
            <a:ext cx="75216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Chapter 4 ends!</a:t>
            </a:r>
            <a:endParaRPr b="0" i="0" sz="5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sic"/>
              <a:buNone/>
            </a:pPr>
            <a:r>
              <a:rPr lang="en-US">
                <a:latin typeface="Basic"/>
                <a:ea typeface="Basic"/>
                <a:cs typeface="Basic"/>
                <a:sym typeface="Basic"/>
              </a:rPr>
              <a:t>Chapter 5: Process API</a:t>
            </a:r>
            <a:endParaRPr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203" name="Google Shape;2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15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5" name="Google Shape;2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172" y="2860306"/>
            <a:ext cx="11606828" cy="217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sic"/>
              <a:buNone/>
            </a:pPr>
            <a:r>
              <a:rPr lang="en-US" sz="2800">
                <a:latin typeface="Basic"/>
                <a:ea typeface="Basic"/>
                <a:cs typeface="Basic"/>
                <a:sym typeface="Basic"/>
              </a:rPr>
              <a:t>CRUX: HOW TO CREATE AND CONTROL PROCESSES</a:t>
            </a:r>
            <a:endParaRPr/>
          </a:p>
        </p:txBody>
      </p:sp>
      <p:pic>
        <p:nvPicPr>
          <p:cNvPr descr="Operating Systems: Three Easy Pieces" id="211" name="Google Shape;2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16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3" name="Google Shape;213;p16"/>
          <p:cNvSpPr txBox="1"/>
          <p:nvPr/>
        </p:nvSpPr>
        <p:spPr>
          <a:xfrm>
            <a:off x="1527071" y="2369572"/>
            <a:ext cx="919685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What interfaces should the OS present for process creation and control?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How should these interfaces be designed to enable powerful functionality, ease of use, and high performance?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216b7b10f_0_81"/>
          <p:cNvSpPr txBox="1"/>
          <p:nvPr>
            <p:ph type="title"/>
          </p:nvPr>
        </p:nvSpPr>
        <p:spPr>
          <a:xfrm>
            <a:off x="2450690" y="374959"/>
            <a:ext cx="89031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sic"/>
              <a:buNone/>
            </a:pPr>
            <a:r>
              <a:rPr lang="en-US" sz="2800">
                <a:latin typeface="Basic"/>
                <a:ea typeface="Basic"/>
                <a:cs typeface="Basic"/>
                <a:sym typeface="Basic"/>
              </a:rPr>
              <a:t>Overview of Process Creation</a:t>
            </a:r>
            <a:endParaRPr/>
          </a:p>
        </p:txBody>
      </p:sp>
      <p:pic>
        <p:nvPicPr>
          <p:cNvPr descr="Operating Systems: Three Easy Pieces" id="219" name="Google Shape;219;g37216b7b10f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g37216b7b10f_0_81"/>
          <p:cNvCxnSpPr/>
          <p:nvPr/>
        </p:nvCxnSpPr>
        <p:spPr>
          <a:xfrm>
            <a:off x="462116" y="165181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g37216b7b10f_0_81"/>
          <p:cNvSpPr/>
          <p:nvPr/>
        </p:nvSpPr>
        <p:spPr>
          <a:xfrm>
            <a:off x="749700" y="3556775"/>
            <a:ext cx="1932900" cy="991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init process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7216b7b10f_0_81"/>
          <p:cNvSpPr txBox="1"/>
          <p:nvPr/>
        </p:nvSpPr>
        <p:spPr>
          <a:xfrm>
            <a:off x="737950" y="2178425"/>
            <a:ext cx="33282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on Chrome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g37216b7b10f_0_81"/>
          <p:cNvCxnSpPr>
            <a:stCxn id="222" idx="2"/>
            <a:endCxn id="221" idx="0"/>
          </p:cNvCxnSpPr>
          <p:nvPr/>
        </p:nvCxnSpPr>
        <p:spPr>
          <a:xfrm flipH="1">
            <a:off x="1716250" y="2766725"/>
            <a:ext cx="685800" cy="79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g37216b7b10f_0_81"/>
          <p:cNvSpPr txBox="1"/>
          <p:nvPr/>
        </p:nvSpPr>
        <p:spPr>
          <a:xfrm>
            <a:off x="2267550" y="2867600"/>
            <a:ext cx="25044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detected by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7216b7b10f_0_81"/>
          <p:cNvSpPr/>
          <p:nvPr/>
        </p:nvSpPr>
        <p:spPr>
          <a:xfrm>
            <a:off x="4331100" y="3556775"/>
            <a:ext cx="1932900" cy="991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copy of </a:t>
            </a: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init process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g37216b7b10f_0_81"/>
          <p:cNvCxnSpPr>
            <a:stCxn id="221" idx="3"/>
            <a:endCxn id="225" idx="1"/>
          </p:cNvCxnSpPr>
          <p:nvPr/>
        </p:nvCxnSpPr>
        <p:spPr>
          <a:xfrm>
            <a:off x="2682600" y="4052675"/>
            <a:ext cx="1648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g37216b7b10f_0_81"/>
          <p:cNvSpPr txBox="1"/>
          <p:nvPr/>
        </p:nvSpPr>
        <p:spPr>
          <a:xfrm>
            <a:off x="2939925" y="4229125"/>
            <a:ext cx="9414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fork()</a:t>
            </a:r>
            <a:endParaRPr b="1" sz="23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g37216b7b10f_0_81"/>
          <p:cNvCxnSpPr>
            <a:stCxn id="225" idx="3"/>
          </p:cNvCxnSpPr>
          <p:nvPr/>
        </p:nvCxnSpPr>
        <p:spPr>
          <a:xfrm>
            <a:off x="6264000" y="4052675"/>
            <a:ext cx="2205900" cy="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g37216b7b10f_0_81"/>
          <p:cNvSpPr txBox="1"/>
          <p:nvPr/>
        </p:nvSpPr>
        <p:spPr>
          <a:xfrm>
            <a:off x="8570875" y="3556925"/>
            <a:ext cx="27063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calls exec(chrome.exe)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216b7b10f_0_116"/>
          <p:cNvSpPr txBox="1"/>
          <p:nvPr>
            <p:ph type="title"/>
          </p:nvPr>
        </p:nvSpPr>
        <p:spPr>
          <a:xfrm>
            <a:off x="2450690" y="374959"/>
            <a:ext cx="89031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sic"/>
              <a:buNone/>
            </a:pPr>
            <a:r>
              <a:rPr lang="en-US" sz="2800">
                <a:latin typeface="Basic"/>
                <a:ea typeface="Basic"/>
                <a:cs typeface="Basic"/>
                <a:sym typeface="Basic"/>
              </a:rPr>
              <a:t>Overview of Process Creation</a:t>
            </a:r>
            <a:endParaRPr/>
          </a:p>
        </p:txBody>
      </p:sp>
      <p:pic>
        <p:nvPicPr>
          <p:cNvPr descr="Operating Systems: Three Easy Pieces" id="235" name="Google Shape;235;g37216b7b10f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g37216b7b10f_0_116"/>
          <p:cNvCxnSpPr/>
          <p:nvPr/>
        </p:nvCxnSpPr>
        <p:spPr>
          <a:xfrm>
            <a:off x="462116" y="165181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7" name="Google Shape;237;g37216b7b10f_0_116"/>
          <p:cNvSpPr/>
          <p:nvPr/>
        </p:nvSpPr>
        <p:spPr>
          <a:xfrm>
            <a:off x="749700" y="3556775"/>
            <a:ext cx="1932900" cy="991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init process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7216b7b10f_0_116"/>
          <p:cNvSpPr txBox="1"/>
          <p:nvPr/>
        </p:nvSpPr>
        <p:spPr>
          <a:xfrm>
            <a:off x="737950" y="2178425"/>
            <a:ext cx="33282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on Chrome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g37216b7b10f_0_116"/>
          <p:cNvCxnSpPr>
            <a:stCxn id="238" idx="2"/>
            <a:endCxn id="237" idx="0"/>
          </p:cNvCxnSpPr>
          <p:nvPr/>
        </p:nvCxnSpPr>
        <p:spPr>
          <a:xfrm flipH="1">
            <a:off x="1716250" y="2766725"/>
            <a:ext cx="685800" cy="79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g37216b7b10f_0_116"/>
          <p:cNvSpPr txBox="1"/>
          <p:nvPr/>
        </p:nvSpPr>
        <p:spPr>
          <a:xfrm>
            <a:off x="2267550" y="2867600"/>
            <a:ext cx="25044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detected by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7216b7b10f_0_116"/>
          <p:cNvSpPr/>
          <p:nvPr/>
        </p:nvSpPr>
        <p:spPr>
          <a:xfrm>
            <a:off x="4331100" y="3556775"/>
            <a:ext cx="1932900" cy="991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Chrome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g37216b7b10f_0_116"/>
          <p:cNvCxnSpPr>
            <a:stCxn id="241" idx="3"/>
          </p:cNvCxnSpPr>
          <p:nvPr/>
        </p:nvCxnSpPr>
        <p:spPr>
          <a:xfrm>
            <a:off x="6264000" y="4052675"/>
            <a:ext cx="2205900" cy="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g37216b7b10f_0_116"/>
          <p:cNvSpPr txBox="1"/>
          <p:nvPr/>
        </p:nvSpPr>
        <p:spPr>
          <a:xfrm>
            <a:off x="8570875" y="3556925"/>
            <a:ext cx="27063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Chrome starts running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7216b7b10f_0_116"/>
          <p:cNvSpPr txBox="1"/>
          <p:nvPr/>
        </p:nvSpPr>
        <p:spPr>
          <a:xfrm>
            <a:off x="4331100" y="2294525"/>
            <a:ext cx="46767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of init process has been converted to Chrome application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Process API: The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fork()</a:t>
            </a: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 System call</a:t>
            </a:r>
            <a:endParaRPr b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250" name="Google Shape;2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17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2" name="Google Shape;252;p17"/>
          <p:cNvSpPr txBox="1"/>
          <p:nvPr/>
        </p:nvSpPr>
        <p:spPr>
          <a:xfrm>
            <a:off x="1527071" y="2330243"/>
            <a:ext cx="9826729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To create a process, we need to request the OS through an API 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 OS provides a way to create a new process: The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fork()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system call.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 odd part: the process that is created is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an (almost) exact copy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of the calling process.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However,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process id (pid), memory and file pointers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are different for the newly created process through </a:t>
            </a:r>
            <a:r>
              <a:rPr b="0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fork()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216b7b10f_0_0"/>
          <p:cNvSpPr txBox="1"/>
          <p:nvPr>
            <p:ph type="title"/>
          </p:nvPr>
        </p:nvSpPr>
        <p:spPr>
          <a:xfrm>
            <a:off x="2399075" y="262224"/>
            <a:ext cx="89547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fork()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t/>
            </a:r>
            <a:endParaRPr b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258" name="Google Shape;258;g37216b7b10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3" y="190801"/>
            <a:ext cx="787076" cy="927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g37216b7b10f_0_0"/>
          <p:cNvCxnSpPr/>
          <p:nvPr/>
        </p:nvCxnSpPr>
        <p:spPr>
          <a:xfrm>
            <a:off x="432591" y="118981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0" name="Google Shape;260;g37216b7b10f_0_0"/>
          <p:cNvSpPr txBox="1"/>
          <p:nvPr/>
        </p:nvSpPr>
        <p:spPr>
          <a:xfrm>
            <a:off x="1527075" y="1539700"/>
            <a:ext cx="3161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int a = fork();</a:t>
            </a:r>
            <a:endParaRPr sz="2400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printf(“a = %d\n”,a);</a:t>
            </a:r>
            <a:endParaRPr sz="2400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// Parent process</a:t>
            </a:r>
            <a:endParaRPr sz="2400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// pid = 5</a:t>
            </a:r>
            <a:endParaRPr sz="2400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  <p:sp>
        <p:nvSpPr>
          <p:cNvPr id="261" name="Google Shape;261;g37216b7b10f_0_0"/>
          <p:cNvSpPr/>
          <p:nvPr/>
        </p:nvSpPr>
        <p:spPr>
          <a:xfrm>
            <a:off x="1612000" y="1522900"/>
            <a:ext cx="2252400" cy="571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7216b7b10f_0_0"/>
          <p:cNvSpPr/>
          <p:nvPr/>
        </p:nvSpPr>
        <p:spPr>
          <a:xfrm>
            <a:off x="3931625" y="1758225"/>
            <a:ext cx="1596900" cy="25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7216b7b10f_0_0"/>
          <p:cNvSpPr txBox="1"/>
          <p:nvPr/>
        </p:nvSpPr>
        <p:spPr>
          <a:xfrm>
            <a:off x="4133325" y="1304375"/>
            <a:ext cx="1596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to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7216b7b10f_0_0"/>
          <p:cNvSpPr txBox="1"/>
          <p:nvPr/>
        </p:nvSpPr>
        <p:spPr>
          <a:xfrm>
            <a:off x="5999150" y="1216450"/>
            <a:ext cx="6237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 fork(). The call is saved to stack.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control goes to the kernel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executes the fork function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almost exact copy (Child) of the calling process (Parent) is created.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Code, Stack, Heap contents are copied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7216b7b10f_0_0"/>
          <p:cNvSpPr/>
          <p:nvPr/>
        </p:nvSpPr>
        <p:spPr>
          <a:xfrm>
            <a:off x="9192825" y="3879100"/>
            <a:ext cx="369900" cy="75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7216b7b10f_0_0"/>
          <p:cNvSpPr txBox="1"/>
          <p:nvPr/>
        </p:nvSpPr>
        <p:spPr>
          <a:xfrm>
            <a:off x="6705900" y="4528300"/>
            <a:ext cx="4790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int a = fork();</a:t>
            </a:r>
            <a:endParaRPr b="1" sz="2400">
              <a:solidFill>
                <a:srgbClr val="0000FF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printf(“a = %d\n”,a);</a:t>
            </a:r>
            <a:endParaRPr b="1" sz="2400">
              <a:solidFill>
                <a:srgbClr val="0000FF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// This is child process</a:t>
            </a:r>
            <a:endParaRPr b="1" sz="2400">
              <a:solidFill>
                <a:srgbClr val="0000FF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// pid = 6</a:t>
            </a:r>
            <a:endParaRPr b="1" sz="2400">
              <a:solidFill>
                <a:srgbClr val="0000FF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7216b7b10f_0_0"/>
          <p:cNvSpPr/>
          <p:nvPr/>
        </p:nvSpPr>
        <p:spPr>
          <a:xfrm>
            <a:off x="704325" y="4061025"/>
            <a:ext cx="2655900" cy="1428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7216b7b10f_0_0"/>
          <p:cNvSpPr txBox="1"/>
          <p:nvPr/>
        </p:nvSpPr>
        <p:spPr>
          <a:xfrm>
            <a:off x="749700" y="4061025"/>
            <a:ext cx="25431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of parent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 call is stored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g37216b7b10f_0_0"/>
          <p:cNvCxnSpPr/>
          <p:nvPr/>
        </p:nvCxnSpPr>
        <p:spPr>
          <a:xfrm flipH="1">
            <a:off x="6049450" y="3892925"/>
            <a:ext cx="1563300" cy="945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g37216b7b10f_0_0"/>
          <p:cNvSpPr/>
          <p:nvPr/>
        </p:nvSpPr>
        <p:spPr>
          <a:xfrm>
            <a:off x="3864400" y="4905200"/>
            <a:ext cx="2655900" cy="1794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7216b7b10f_0_0"/>
          <p:cNvSpPr txBox="1"/>
          <p:nvPr/>
        </p:nvSpPr>
        <p:spPr>
          <a:xfrm>
            <a:off x="3881000" y="4905200"/>
            <a:ext cx="2543100" cy="17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of child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 call stored (copy from parent stack)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216b7b10f_0_26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fork()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t/>
            </a:r>
            <a:endParaRPr b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277" name="Google Shape;277;g37216b7b10f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g37216b7b10f_0_26"/>
          <p:cNvCxnSpPr/>
          <p:nvPr/>
        </p:nvCxnSpPr>
        <p:spPr>
          <a:xfrm>
            <a:off x="462116" y="165181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9" name="Google Shape;279;g37216b7b10f_0_26"/>
          <p:cNvSpPr txBox="1"/>
          <p:nvPr/>
        </p:nvSpPr>
        <p:spPr>
          <a:xfrm>
            <a:off x="669797" y="1838875"/>
            <a:ext cx="31272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int a = fork();</a:t>
            </a:r>
            <a:endParaRPr sz="2200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printf(“a = %d\n”,a);</a:t>
            </a:r>
            <a:endParaRPr sz="2200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// Parent process</a:t>
            </a:r>
            <a:endParaRPr sz="2200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// pid = 5</a:t>
            </a:r>
            <a:endParaRPr sz="2200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  <p:sp>
        <p:nvSpPr>
          <p:cNvPr id="280" name="Google Shape;280;g37216b7b10f_0_26"/>
          <p:cNvSpPr txBox="1"/>
          <p:nvPr/>
        </p:nvSpPr>
        <p:spPr>
          <a:xfrm>
            <a:off x="6285675" y="1838875"/>
            <a:ext cx="4790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int a = fork();</a:t>
            </a:r>
            <a:endParaRPr b="1" sz="2200">
              <a:solidFill>
                <a:srgbClr val="0000FF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printf(“a = %d\n”,a);</a:t>
            </a:r>
            <a:endParaRPr b="1" sz="2200">
              <a:solidFill>
                <a:srgbClr val="0000FF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// This is child process</a:t>
            </a:r>
            <a:endParaRPr b="1" sz="2200">
              <a:solidFill>
                <a:srgbClr val="0000FF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1333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// pid = 6</a:t>
            </a:r>
            <a:endParaRPr b="1" sz="2200">
              <a:solidFill>
                <a:srgbClr val="0000FF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7216b7b10f_0_26"/>
          <p:cNvSpPr txBox="1"/>
          <p:nvPr/>
        </p:nvSpPr>
        <p:spPr>
          <a:xfrm>
            <a:off x="553050" y="3980725"/>
            <a:ext cx="3496200" cy="2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pid of child from the fork function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a &lt;- 6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7216b7b10f_0_26"/>
          <p:cNvSpPr txBox="1"/>
          <p:nvPr/>
        </p:nvSpPr>
        <p:spPr>
          <a:xfrm>
            <a:off x="6096000" y="4077825"/>
            <a:ext cx="4959300" cy="22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sets return value to 0 for child process during the execution of fork called from parent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a &lt;- 0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7216b7b10f_0_26"/>
          <p:cNvSpPr txBox="1"/>
          <p:nvPr/>
        </p:nvSpPr>
        <p:spPr>
          <a:xfrm>
            <a:off x="922050" y="5926800"/>
            <a:ext cx="14769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6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7216b7b10f_0_26"/>
          <p:cNvSpPr txBox="1"/>
          <p:nvPr/>
        </p:nvSpPr>
        <p:spPr>
          <a:xfrm>
            <a:off x="7898525" y="5926800"/>
            <a:ext cx="17493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0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7216b7b10f_0_26"/>
          <p:cNvSpPr txBox="1"/>
          <p:nvPr/>
        </p:nvSpPr>
        <p:spPr>
          <a:xfrm>
            <a:off x="3679500" y="5153600"/>
            <a:ext cx="2319600" cy="15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we see on terminal:</a:t>
            </a:r>
            <a:endParaRPr b="1" sz="22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 = 6</a:t>
            </a:r>
            <a:endParaRPr b="1" sz="22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 = 0</a:t>
            </a:r>
            <a:endParaRPr b="1" sz="22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9af34d245_0_5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fork() contd.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291" name="Google Shape;291;g339af34d245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g339af34d245_0_5"/>
          <p:cNvCxnSpPr/>
          <p:nvPr/>
        </p:nvCxnSpPr>
        <p:spPr>
          <a:xfrm>
            <a:off x="462116" y="165181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g339af34d245_0_5"/>
          <p:cNvSpPr txBox="1"/>
          <p:nvPr/>
        </p:nvSpPr>
        <p:spPr>
          <a:xfrm>
            <a:off x="462125" y="1993550"/>
            <a:ext cx="4656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 Process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main()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int c = fork();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if(c == 0)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printf(“In Child Process”);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}else if(c &gt; 0)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printf(“In Parent Process”);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39af34d245_0_5"/>
          <p:cNvSpPr txBox="1"/>
          <p:nvPr/>
        </p:nvSpPr>
        <p:spPr>
          <a:xfrm>
            <a:off x="6480800" y="1844950"/>
            <a:ext cx="4656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Process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main()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int c = fork();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if(c == 0)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printf(“In Child Process”);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}else if(c &gt; 0)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printf(“In Parent Process”);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39af34d245_0_5"/>
          <p:cNvSpPr/>
          <p:nvPr/>
        </p:nvSpPr>
        <p:spPr>
          <a:xfrm>
            <a:off x="913575" y="2894113"/>
            <a:ext cx="2064900" cy="457200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39af34d245_0_5"/>
          <p:cNvSpPr/>
          <p:nvPr/>
        </p:nvSpPr>
        <p:spPr>
          <a:xfrm>
            <a:off x="6964025" y="2816125"/>
            <a:ext cx="2064900" cy="457200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39af34d245_0_5"/>
          <p:cNvSpPr txBox="1"/>
          <p:nvPr/>
        </p:nvSpPr>
        <p:spPr>
          <a:xfrm>
            <a:off x="3505200" y="2968823"/>
            <a:ext cx="10033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&gt; 0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39af34d245_0_5"/>
          <p:cNvSpPr txBox="1"/>
          <p:nvPr/>
        </p:nvSpPr>
        <p:spPr>
          <a:xfrm>
            <a:off x="9601200" y="2890837"/>
            <a:ext cx="10033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0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fork() contd.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304" name="Google Shape;30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47"/>
          <p:cNvCxnSpPr/>
          <p:nvPr/>
        </p:nvCxnSpPr>
        <p:spPr>
          <a:xfrm>
            <a:off x="462116" y="165181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" name="Google Shape;306;p47"/>
          <p:cNvSpPr txBox="1"/>
          <p:nvPr/>
        </p:nvSpPr>
        <p:spPr>
          <a:xfrm>
            <a:off x="462125" y="1993550"/>
            <a:ext cx="4656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 Process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main()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int c = fork();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if(c == 0)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printf(“In Child Process”);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}else if(c &gt; 0)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printf(“In Parent Process”);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7"/>
          <p:cNvSpPr txBox="1"/>
          <p:nvPr/>
        </p:nvSpPr>
        <p:spPr>
          <a:xfrm>
            <a:off x="6480800" y="1844950"/>
            <a:ext cx="4656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Process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main()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int c = fork();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if(c == 0)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printf(“In Child Process”);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}else if(c &gt; 0)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printf(“In Parent Process”);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7"/>
          <p:cNvSpPr/>
          <p:nvPr/>
        </p:nvSpPr>
        <p:spPr>
          <a:xfrm>
            <a:off x="1066800" y="4141599"/>
            <a:ext cx="2064775" cy="457200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7"/>
          <p:cNvSpPr/>
          <p:nvPr/>
        </p:nvSpPr>
        <p:spPr>
          <a:xfrm>
            <a:off x="7162800" y="3152773"/>
            <a:ext cx="2064775" cy="457200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7"/>
          <p:cNvSpPr txBox="1"/>
          <p:nvPr/>
        </p:nvSpPr>
        <p:spPr>
          <a:xfrm>
            <a:off x="3505200" y="2968823"/>
            <a:ext cx="10033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&gt; 0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7"/>
          <p:cNvSpPr txBox="1"/>
          <p:nvPr/>
        </p:nvSpPr>
        <p:spPr>
          <a:xfrm>
            <a:off x="9601200" y="2890837"/>
            <a:ext cx="10033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0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7"/>
          <p:cNvSpPr txBox="1"/>
          <p:nvPr/>
        </p:nvSpPr>
        <p:spPr>
          <a:xfrm>
            <a:off x="4267200" y="5715000"/>
            <a:ext cx="2895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Parent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7"/>
          <p:cNvSpPr txBox="1"/>
          <p:nvPr/>
        </p:nvSpPr>
        <p:spPr>
          <a:xfrm>
            <a:off x="4267200" y="6218512"/>
            <a:ext cx="1858316" cy="30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Child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216b7b10f_0_49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Process Tree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.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319" name="Google Shape;319;g37216b7b10f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g37216b7b10f_0_49"/>
          <p:cNvCxnSpPr/>
          <p:nvPr/>
        </p:nvCxnSpPr>
        <p:spPr>
          <a:xfrm>
            <a:off x="462116" y="165181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1" name="Google Shape;321;g37216b7b10f_0_49"/>
          <p:cNvSpPr txBox="1"/>
          <p:nvPr/>
        </p:nvSpPr>
        <p:spPr>
          <a:xfrm>
            <a:off x="462125" y="1993550"/>
            <a:ext cx="4656000" cy="22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7216b7b10f_0_49"/>
          <p:cNvSpPr txBox="1"/>
          <p:nvPr/>
        </p:nvSpPr>
        <p:spPr>
          <a:xfrm>
            <a:off x="106075" y="2129700"/>
            <a:ext cx="4497900" cy="2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 fork ()   ||   fork() ) {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printf(“True”);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printf(“False”);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7216b7b10f_0_49"/>
          <p:cNvSpPr/>
          <p:nvPr/>
        </p:nvSpPr>
        <p:spPr>
          <a:xfrm>
            <a:off x="507125" y="2245675"/>
            <a:ext cx="1042200" cy="453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7216b7b10f_0_49"/>
          <p:cNvSpPr/>
          <p:nvPr/>
        </p:nvSpPr>
        <p:spPr>
          <a:xfrm>
            <a:off x="6486575" y="1842250"/>
            <a:ext cx="1277400" cy="11766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pid = 5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g37216b7b10f_0_49"/>
          <p:cNvCxnSpPr>
            <a:stCxn id="324" idx="3"/>
          </p:cNvCxnSpPr>
          <p:nvPr/>
        </p:nvCxnSpPr>
        <p:spPr>
          <a:xfrm flipH="1">
            <a:off x="5911646" y="2846541"/>
            <a:ext cx="762000" cy="58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g37216b7b10f_0_49"/>
          <p:cNvSpPr/>
          <p:nvPr/>
        </p:nvSpPr>
        <p:spPr>
          <a:xfrm>
            <a:off x="4818600" y="3186975"/>
            <a:ext cx="1277400" cy="10590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A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pid = 6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7216b7b10f_0_49"/>
          <p:cNvSpPr txBox="1"/>
          <p:nvPr/>
        </p:nvSpPr>
        <p:spPr>
          <a:xfrm>
            <a:off x="4923325" y="1993550"/>
            <a:ext cx="14121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fork-&gt; 6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7216b7b10f_0_49"/>
          <p:cNvSpPr txBox="1"/>
          <p:nvPr/>
        </p:nvSpPr>
        <p:spPr>
          <a:xfrm>
            <a:off x="3406500" y="3486450"/>
            <a:ext cx="14121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fork-&gt; 0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7216b7b10f_0_49"/>
          <p:cNvSpPr txBox="1"/>
          <p:nvPr/>
        </p:nvSpPr>
        <p:spPr>
          <a:xfrm>
            <a:off x="998075" y="4587675"/>
            <a:ext cx="44979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Process A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 fork ()   ||   fork() ) {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printf(“True”);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printf(“False”);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7216b7b10f_0_49"/>
          <p:cNvSpPr/>
          <p:nvPr/>
        </p:nvSpPr>
        <p:spPr>
          <a:xfrm>
            <a:off x="2939950" y="5132300"/>
            <a:ext cx="1042200" cy="453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g37216b7b10f_0_49"/>
          <p:cNvCxnSpPr/>
          <p:nvPr/>
        </p:nvCxnSpPr>
        <p:spPr>
          <a:xfrm>
            <a:off x="5457300" y="4245975"/>
            <a:ext cx="37500" cy="85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g37216b7b10f_0_49"/>
          <p:cNvSpPr/>
          <p:nvPr/>
        </p:nvSpPr>
        <p:spPr>
          <a:xfrm>
            <a:off x="4818600" y="5049750"/>
            <a:ext cx="1277400" cy="10590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pid = 7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7216b7b10f_0_49"/>
          <p:cNvSpPr txBox="1"/>
          <p:nvPr/>
        </p:nvSpPr>
        <p:spPr>
          <a:xfrm>
            <a:off x="6310625" y="3823750"/>
            <a:ext cx="14121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fork-&gt; 7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7216b7b10f_0_49"/>
          <p:cNvSpPr txBox="1"/>
          <p:nvPr/>
        </p:nvSpPr>
        <p:spPr>
          <a:xfrm>
            <a:off x="6310625" y="5284150"/>
            <a:ext cx="34872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 -&gt; 0 (copy from A)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fork-&gt; 0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7216b7b10f_0_49"/>
          <p:cNvSpPr txBox="1"/>
          <p:nvPr/>
        </p:nvSpPr>
        <p:spPr>
          <a:xfrm>
            <a:off x="8436400" y="2346525"/>
            <a:ext cx="1546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prints True</a:t>
            </a:r>
            <a:endParaRPr b="1" sz="2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7216b7b10f_0_49"/>
          <p:cNvSpPr txBox="1"/>
          <p:nvPr/>
        </p:nvSpPr>
        <p:spPr>
          <a:xfrm>
            <a:off x="7597075" y="3924550"/>
            <a:ext cx="1546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prints True</a:t>
            </a:r>
            <a:endParaRPr b="1" sz="2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7216b7b10f_0_49"/>
          <p:cNvSpPr txBox="1"/>
          <p:nvPr/>
        </p:nvSpPr>
        <p:spPr>
          <a:xfrm>
            <a:off x="4702800" y="6315650"/>
            <a:ext cx="1971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prints False</a:t>
            </a:r>
            <a:endParaRPr b="1" sz="23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7216b7b10f_0_49"/>
          <p:cNvSpPr txBox="1"/>
          <p:nvPr/>
        </p:nvSpPr>
        <p:spPr>
          <a:xfrm>
            <a:off x="8932950" y="4824125"/>
            <a:ext cx="32592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// Process B</a:t>
            </a:r>
            <a:endParaRPr b="1" sz="2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if( fork ()   ||   fork() ) {</a:t>
            </a:r>
            <a:endParaRPr sz="2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	printf(“True”);</a:t>
            </a:r>
            <a:endParaRPr sz="2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 sz="2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	printf(“False”);</a:t>
            </a:r>
            <a:endParaRPr sz="2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21ec15e14_0_0"/>
          <p:cNvSpPr txBox="1"/>
          <p:nvPr>
            <p:ph type="title"/>
          </p:nvPr>
        </p:nvSpPr>
        <p:spPr>
          <a:xfrm>
            <a:off x="1815296" y="185984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Process Tree.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344" name="Google Shape;344;g3721ec15e1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125" y="206229"/>
            <a:ext cx="762000" cy="7742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g3721ec15e14_0_0"/>
          <p:cNvCxnSpPr/>
          <p:nvPr/>
        </p:nvCxnSpPr>
        <p:spPr>
          <a:xfrm>
            <a:off x="322216" y="1201632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6" name="Google Shape;346;g3721ec15e14_0_0"/>
          <p:cNvSpPr txBox="1"/>
          <p:nvPr/>
        </p:nvSpPr>
        <p:spPr>
          <a:xfrm>
            <a:off x="204900" y="1382525"/>
            <a:ext cx="4913100" cy="28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721ec15e14_0_0"/>
          <p:cNvSpPr txBox="1"/>
          <p:nvPr/>
        </p:nvSpPr>
        <p:spPr>
          <a:xfrm>
            <a:off x="204900" y="1564875"/>
            <a:ext cx="4497900" cy="2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 fork ()   &amp;&amp;   fork() ) {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printf(“True”);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printf(“False”);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721ec15e14_0_0"/>
          <p:cNvSpPr/>
          <p:nvPr/>
        </p:nvSpPr>
        <p:spPr>
          <a:xfrm>
            <a:off x="583325" y="1636075"/>
            <a:ext cx="1042200" cy="453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721ec15e14_0_0"/>
          <p:cNvSpPr/>
          <p:nvPr/>
        </p:nvSpPr>
        <p:spPr>
          <a:xfrm>
            <a:off x="6486575" y="1842250"/>
            <a:ext cx="1277400" cy="11766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pid = 5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g3721ec15e14_0_0"/>
          <p:cNvCxnSpPr>
            <a:stCxn id="349" idx="3"/>
          </p:cNvCxnSpPr>
          <p:nvPr/>
        </p:nvCxnSpPr>
        <p:spPr>
          <a:xfrm flipH="1">
            <a:off x="5911646" y="2846541"/>
            <a:ext cx="762000" cy="58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g3721ec15e14_0_0"/>
          <p:cNvSpPr/>
          <p:nvPr/>
        </p:nvSpPr>
        <p:spPr>
          <a:xfrm>
            <a:off x="4818600" y="3186975"/>
            <a:ext cx="1277400" cy="10590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A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pid = 6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721ec15e14_0_0"/>
          <p:cNvSpPr txBox="1"/>
          <p:nvPr/>
        </p:nvSpPr>
        <p:spPr>
          <a:xfrm>
            <a:off x="4839225" y="1691025"/>
            <a:ext cx="14121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fork1-&gt; 6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721ec15e14_0_0"/>
          <p:cNvSpPr txBox="1"/>
          <p:nvPr/>
        </p:nvSpPr>
        <p:spPr>
          <a:xfrm>
            <a:off x="3406500" y="3486450"/>
            <a:ext cx="14121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fork1-&gt; 0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721ec15e14_0_0"/>
          <p:cNvSpPr txBox="1"/>
          <p:nvPr/>
        </p:nvSpPr>
        <p:spPr>
          <a:xfrm>
            <a:off x="998075" y="4587675"/>
            <a:ext cx="44979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Process A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 fork () &amp;&amp;   fork() ) {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printf(“True”);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printf(“False”);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721ec15e14_0_0"/>
          <p:cNvSpPr/>
          <p:nvPr/>
        </p:nvSpPr>
        <p:spPr>
          <a:xfrm>
            <a:off x="2364300" y="1671425"/>
            <a:ext cx="1042200" cy="453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721ec15e14_0_0"/>
          <p:cNvSpPr/>
          <p:nvPr/>
        </p:nvSpPr>
        <p:spPr>
          <a:xfrm>
            <a:off x="7937350" y="3512788"/>
            <a:ext cx="1277400" cy="10590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pid = 7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721ec15e14_0_0"/>
          <p:cNvSpPr txBox="1"/>
          <p:nvPr/>
        </p:nvSpPr>
        <p:spPr>
          <a:xfrm>
            <a:off x="7999225" y="1671425"/>
            <a:ext cx="1412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fork2-&gt; 7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721ec15e14_0_0"/>
          <p:cNvSpPr txBox="1"/>
          <p:nvPr/>
        </p:nvSpPr>
        <p:spPr>
          <a:xfrm>
            <a:off x="8436400" y="2346525"/>
            <a:ext cx="1546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prints True</a:t>
            </a:r>
            <a:endParaRPr b="1" sz="2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721ec15e14_0_0"/>
          <p:cNvSpPr txBox="1"/>
          <p:nvPr/>
        </p:nvSpPr>
        <p:spPr>
          <a:xfrm>
            <a:off x="3982150" y="4420925"/>
            <a:ext cx="1798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prints False</a:t>
            </a:r>
            <a:endParaRPr b="1" sz="2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721ec15e14_0_0"/>
          <p:cNvSpPr txBox="1"/>
          <p:nvPr/>
        </p:nvSpPr>
        <p:spPr>
          <a:xfrm>
            <a:off x="6486575" y="4874825"/>
            <a:ext cx="1971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prints False</a:t>
            </a:r>
            <a:endParaRPr b="1" sz="23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721ec15e14_0_0"/>
          <p:cNvSpPr txBox="1"/>
          <p:nvPr/>
        </p:nvSpPr>
        <p:spPr>
          <a:xfrm>
            <a:off x="8647050" y="4676100"/>
            <a:ext cx="32592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// Process B</a:t>
            </a:r>
            <a:endParaRPr b="1" sz="2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if( fork ()  &amp;&amp;  fork() ) {</a:t>
            </a:r>
            <a:endParaRPr sz="2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	printf(“True”);</a:t>
            </a:r>
            <a:endParaRPr sz="2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 sz="2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	printf(“False”);</a:t>
            </a:r>
            <a:endParaRPr sz="2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g3721ec15e14_0_0"/>
          <p:cNvCxnSpPr>
            <a:stCxn id="349" idx="5"/>
            <a:endCxn id="356" idx="0"/>
          </p:cNvCxnSpPr>
          <p:nvPr/>
        </p:nvCxnSpPr>
        <p:spPr>
          <a:xfrm>
            <a:off x="7576904" y="2846541"/>
            <a:ext cx="999000" cy="666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g3721ec15e14_0_0"/>
          <p:cNvSpPr txBox="1"/>
          <p:nvPr/>
        </p:nvSpPr>
        <p:spPr>
          <a:xfrm>
            <a:off x="9411325" y="3688050"/>
            <a:ext cx="27807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fork1-&gt; 6 (Copy from P)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fork2 -&gt; 0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fork()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369" name="Google Shape;3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p18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1" name="Google Shape;3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4779" y="1838108"/>
            <a:ext cx="8486466" cy="414973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8"/>
          <p:cNvSpPr txBox="1"/>
          <p:nvPr/>
        </p:nvSpPr>
        <p:spPr>
          <a:xfrm>
            <a:off x="1323666" y="5978014"/>
            <a:ext cx="105635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Acknowledgement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: This snapshot is a class note from the class of Rayhan Rashed Sir, Assistant Professor of BUET and the class note is written by Maneesha Rani Saha, a former undergraduate student of BUET</a:t>
            </a:r>
            <a:endParaRPr b="0" i="0" sz="18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fork()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378" name="Google Shape;3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9" name="Google Shape;379;p19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0" name="Google Shape;380;p19"/>
          <p:cNvSpPr txBox="1"/>
          <p:nvPr/>
        </p:nvSpPr>
        <p:spPr>
          <a:xfrm>
            <a:off x="1323666" y="5978014"/>
            <a:ext cx="105635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Acknowledgement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: This snapshot is a class note from the class of Rayhan Rashed Sir, Assistant Professor of BUET and the class note is written by Maneesha Rani Saha, a former undergraduate student of BUET</a:t>
            </a:r>
            <a:endParaRPr b="0" i="0" sz="18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id="381" name="Google Shape;3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3696" y="1833716"/>
            <a:ext cx="7903599" cy="396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fork()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387" name="Google Shape;3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8" name="Google Shape;388;p20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9" name="Google Shape;389;p20"/>
          <p:cNvSpPr txBox="1"/>
          <p:nvPr/>
        </p:nvSpPr>
        <p:spPr>
          <a:xfrm>
            <a:off x="1356852" y="2408903"/>
            <a:ext cx="8799871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int rc = 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For child process, rc = 0</a:t>
            </a:r>
            <a:b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</a:br>
            <a:endParaRPr b="0" i="0" sz="32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For parent process, rc = process id of child</a:t>
            </a:r>
            <a:b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</a:br>
            <a:endParaRPr b="0" i="0" sz="32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rc &lt; 0 means the </a:t>
            </a:r>
            <a:r>
              <a:rPr b="0" i="1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fork()</a:t>
            </a: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is not executed properly.</a:t>
            </a:r>
            <a:endParaRPr b="0" i="0" sz="32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fork()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395" name="Google Shape;3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6" name="Google Shape;396;p21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97" name="Google Shape;3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116" y="1875963"/>
            <a:ext cx="6591300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3583" y="1846467"/>
            <a:ext cx="5148417" cy="240106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1"/>
          <p:cNvSpPr/>
          <p:nvPr/>
        </p:nvSpPr>
        <p:spPr>
          <a:xfrm>
            <a:off x="570271" y="3116826"/>
            <a:ext cx="2930013" cy="245807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Let’s understand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fork()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05" name="Google Shape;4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6" name="Google Shape;406;p22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07" name="Google Shape;4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309" y="4265203"/>
            <a:ext cx="6125497" cy="240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5005849"/>
            <a:ext cx="561022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2"/>
          <p:cNvSpPr txBox="1"/>
          <p:nvPr/>
        </p:nvSpPr>
        <p:spPr>
          <a:xfrm>
            <a:off x="462116" y="1995948"/>
            <a:ext cx="1116944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 output (of p1.c) is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not deterministic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.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When the child process is created, there are now two active processes in the system that we care about: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 parent and the child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.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Assuming we are running on a system with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 single CPU (for simplicity)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, then either the child or the parent might run at that point.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The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wait()</a:t>
            </a: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 System call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15" name="Google Shape;4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" name="Google Shape;416;p23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7" name="Google Shape;417;p23"/>
          <p:cNvSpPr txBox="1"/>
          <p:nvPr/>
        </p:nvSpPr>
        <p:spPr>
          <a:xfrm>
            <a:off x="462116" y="1995948"/>
            <a:ext cx="11169445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Sometimes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it is quite useful for a parent to wait for a child process to finish what it has been doing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This task is accomplished by the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wait()</a:t>
            </a:r>
            <a:r>
              <a:rPr b="0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system call.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 parent process calls </a:t>
            </a:r>
            <a:r>
              <a:rPr b="1" i="1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wait() </a:t>
            </a:r>
            <a:r>
              <a:rPr b="0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to delay its execution until the child process finish executing.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Makes the output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deterministic.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Child process has nothing to do with the </a:t>
            </a:r>
            <a:r>
              <a:rPr b="1" i="1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wait()</a:t>
            </a:r>
            <a:r>
              <a:rPr b="1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system call! </a:t>
            </a:r>
            <a:endParaRPr b="0" i="0" sz="28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17d8f31d05_0_0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The </a:t>
            </a:r>
            <a:r>
              <a:rPr b="1" i="1" lang="en-US" sz="36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wait()</a:t>
            </a:r>
            <a:r>
              <a:rPr b="1" lang="en-US" sz="3600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 System call (newly added)</a:t>
            </a:r>
            <a:endParaRPr b="1" i="1" sz="3600">
              <a:solidFill>
                <a:srgbClr val="0000FF"/>
              </a:solidFill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23" name="Google Shape;423;g317d8f31d0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4" name="Google Shape;424;g317d8f31d05_0_0"/>
          <p:cNvCxnSpPr/>
          <p:nvPr/>
        </p:nvCxnSpPr>
        <p:spPr>
          <a:xfrm>
            <a:off x="462116" y="165181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5" name="Google Shape;425;g317d8f31d05_0_0"/>
          <p:cNvSpPr txBox="1"/>
          <p:nvPr/>
        </p:nvSpPr>
        <p:spPr>
          <a:xfrm>
            <a:off x="511341" y="1809298"/>
            <a:ext cx="111693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i="0" lang="en-US" sz="2800" u="none" cap="none" strike="noStrike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wait(NULL)</a:t>
            </a:r>
            <a:r>
              <a:rPr b="0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-&gt; this waits for a single child. If a parent process has 4 children but it calls wait(NULL) for a single time, then after the completion of any one child, the parent process will be able to run.</a:t>
            </a:r>
            <a:endParaRPr b="0" i="0" sz="28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sic"/>
              <a:buChar char="✔"/>
            </a:pPr>
            <a:r>
              <a:rPr b="1" i="0" lang="en-US" sz="2800" u="none" cap="none" strike="noStrike">
                <a:solidFill>
                  <a:srgbClr val="0000FF"/>
                </a:solidFill>
                <a:latin typeface="Basic"/>
                <a:ea typeface="Basic"/>
                <a:cs typeface="Basic"/>
                <a:sym typeface="Basic"/>
              </a:rPr>
              <a:t>waitpid(int child_id)</a:t>
            </a:r>
            <a:r>
              <a:rPr b="0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-&gt; waits for the specified child. If some other child completes execution before the specified child, then the parent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Basic"/>
                <a:ea typeface="Basic"/>
                <a:cs typeface="Basic"/>
                <a:sym typeface="Basic"/>
              </a:rPr>
              <a:t>will not be able to run.</a:t>
            </a:r>
            <a:endParaRPr b="0" i="0" sz="28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sic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If the parent has 4 children and needs to wait for all the children, then it needs to call wait(NULL) for 4 times. </a:t>
            </a:r>
            <a:endParaRPr b="0" i="0" sz="28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4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The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wait()</a:t>
            </a: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 System call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31" name="Google Shape;4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2" name="Google Shape;432;p24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33" name="Google Shape;4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638" y="1759974"/>
            <a:ext cx="8332992" cy="5082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5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The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wait()</a:t>
            </a: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 System call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39" name="Google Shape;4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0" name="Google Shape;440;p25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41" name="Google Shape;4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637" y="3147090"/>
            <a:ext cx="9153525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5"/>
          <p:cNvSpPr txBox="1"/>
          <p:nvPr/>
        </p:nvSpPr>
        <p:spPr>
          <a:xfrm>
            <a:off x="1219200" y="2084439"/>
            <a:ext cx="54667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Output of the previous code</a:t>
            </a:r>
            <a:endParaRPr b="1" i="1" sz="28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The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wait()</a:t>
            </a: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 System call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48" name="Google Shape;4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9" name="Google Shape;449;p26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0" name="Google Shape;450;p26"/>
          <p:cNvSpPr txBox="1"/>
          <p:nvPr/>
        </p:nvSpPr>
        <p:spPr>
          <a:xfrm>
            <a:off x="1022554" y="2163097"/>
            <a:ext cx="10331245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With this code, we now know that the child will always print first.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Why do we know that?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Well, it might simply run first, as before, and thus print before the parent.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However, if the parent does happen to run first, it will immediately call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wait(); this system call won’t return until the child has run and exited 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Thus, even when the parent runs first, it politely waits for the child to finish running, then wait() returns, and then the parent prints its message.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The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exec()</a:t>
            </a: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 System call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56" name="Google Shape;4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27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8" name="Google Shape;458;p27"/>
          <p:cNvSpPr txBox="1"/>
          <p:nvPr/>
        </p:nvSpPr>
        <p:spPr>
          <a:xfrm>
            <a:off x="749708" y="1651819"/>
            <a:ext cx="10331245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 final and important piece of the process creation API is the </a:t>
            </a:r>
            <a:r>
              <a:rPr b="1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exec()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system call3 .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This system call is useful when you want to run a program that is different from the calling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Transforms the running program(child process) to a completely different program.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Overwrites the code segment of the running process with a new process (passed as argument to the </a:t>
            </a:r>
            <a:r>
              <a:rPr b="1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exec()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system call. Heap, stack &amp; other parts of the memory space of the program are re-initialized.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The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exec()</a:t>
            </a: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 System call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64" name="Google Shape;4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5" name="Google Shape;465;p28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6" name="Google Shape;466;p28"/>
          <p:cNvSpPr txBox="1"/>
          <p:nvPr/>
        </p:nvSpPr>
        <p:spPr>
          <a:xfrm>
            <a:off x="749708" y="2202425"/>
            <a:ext cx="11235815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	if(fork() ==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	{	//in child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		exec(“ls”);  //the child process will be transformed to “ls”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	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	{	//parent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}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9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The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exec()</a:t>
            </a: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 System call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72" name="Google Shape;4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" name="Google Shape;473;p29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74" name="Google Shape;47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116" y="1858296"/>
            <a:ext cx="7674694" cy="4844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The </a:t>
            </a: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exec()</a:t>
            </a: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 System call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80" name="Google Shape;4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1" name="Google Shape;481;p30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82" name="Google Shape;48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984" y="1757516"/>
            <a:ext cx="9620250" cy="151908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0"/>
          <p:cNvSpPr txBox="1"/>
          <p:nvPr/>
        </p:nvSpPr>
        <p:spPr>
          <a:xfrm>
            <a:off x="170988" y="3197943"/>
            <a:ext cx="11909016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given the name of an executable (e.g., wc), and some arguments (e.g., p3.c)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it loads code (and static data) from that executable and overwrites its current code segment (and current static data) with 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 heap and stack and other parts of the memory space of the program are re-initialized.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Then the OS simply runs that program, passing in any arguments as the argv of that process.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Thus, it does not create a new process; rather, it transforms the currently running program (formerly p3) into a different running program (wc). 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After the exec() in the child, it is almost as if p3.c never ran; a successful call to exec() never returns.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1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Why? Motivating the API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89" name="Google Shape;4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0" name="Google Shape;490;p31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1" name="Google Shape;491;p31"/>
          <p:cNvSpPr txBox="1"/>
          <p:nvPr/>
        </p:nvSpPr>
        <p:spPr>
          <a:xfrm>
            <a:off x="282984" y="2005779"/>
            <a:ext cx="1190901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 separation of </a:t>
            </a:r>
            <a:r>
              <a:rPr b="1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fork()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and </a:t>
            </a:r>
            <a:r>
              <a:rPr b="1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exec()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makes the pipeline easier.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Allows to do some initialization before calling the </a:t>
            </a:r>
            <a:r>
              <a:rPr b="1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exec()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system call.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</a:b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An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 shell is just a user program.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It shows us a prompt and waits for us to type something into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When we type a command (name of an executable program), it figures out where in the file system the executable resides,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Then it calls </a:t>
            </a:r>
            <a:r>
              <a:rPr b="1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fork()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to create a child process to run the command.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Calls some variant of </a:t>
            </a:r>
            <a:r>
              <a:rPr b="1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exec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to run the command.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Waits for the command to complete by calling </a:t>
            </a:r>
            <a:r>
              <a:rPr b="1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wait()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When the child completes, the shell returns from </a:t>
            </a:r>
            <a:r>
              <a:rPr b="1" i="1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wait()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 and prints out a prompt again</a:t>
            </a:r>
            <a:endParaRPr b="0" i="0" sz="24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72a991dba8_0_0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Combining Everything…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497" name="Google Shape;497;g372a991dba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2" y="190800"/>
            <a:ext cx="847617" cy="99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8" name="Google Shape;498;g372a991dba8_0_0"/>
          <p:cNvCxnSpPr/>
          <p:nvPr/>
        </p:nvCxnSpPr>
        <p:spPr>
          <a:xfrm>
            <a:off x="432591" y="127496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99" name="Google Shape;499;g372a991dba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475" y="2113904"/>
            <a:ext cx="7037726" cy="41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2a991dba8_0_0"/>
          <p:cNvSpPr/>
          <p:nvPr/>
        </p:nvSpPr>
        <p:spPr>
          <a:xfrm>
            <a:off x="300925" y="2128000"/>
            <a:ext cx="1764900" cy="31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g372a991dba8_0_0"/>
          <p:cNvCxnSpPr>
            <a:stCxn id="500" idx="3"/>
          </p:cNvCxnSpPr>
          <p:nvPr/>
        </p:nvCxnSpPr>
        <p:spPr>
          <a:xfrm>
            <a:off x="2065825" y="2287750"/>
            <a:ext cx="5866200" cy="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2" name="Google Shape;502;g372a991dba8_0_0"/>
          <p:cNvSpPr txBox="1"/>
          <p:nvPr/>
        </p:nvSpPr>
        <p:spPr>
          <a:xfrm>
            <a:off x="3326500" y="1808650"/>
            <a:ext cx="2504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Child Process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g372a991dba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4226" y="2784725"/>
            <a:ext cx="4529000" cy="2690158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72a991dba8_0_0"/>
          <p:cNvSpPr txBox="1"/>
          <p:nvPr/>
        </p:nvSpPr>
        <p:spPr>
          <a:xfrm>
            <a:off x="8520450" y="1976725"/>
            <a:ext cx="20172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72a991dba8_0_0"/>
          <p:cNvSpPr txBox="1"/>
          <p:nvPr/>
        </p:nvSpPr>
        <p:spPr>
          <a:xfrm>
            <a:off x="462125" y="1466650"/>
            <a:ext cx="20172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72a991dba8_0_0"/>
          <p:cNvSpPr/>
          <p:nvPr/>
        </p:nvSpPr>
        <p:spPr>
          <a:xfrm>
            <a:off x="588275" y="5155375"/>
            <a:ext cx="2418900" cy="31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g372a991dba8_0_0"/>
          <p:cNvCxnSpPr>
            <a:stCxn id="506" idx="3"/>
          </p:cNvCxnSpPr>
          <p:nvPr/>
        </p:nvCxnSpPr>
        <p:spPr>
          <a:xfrm flipH="1" rot="10800000">
            <a:off x="3007175" y="5136925"/>
            <a:ext cx="1260600" cy="17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8" name="Google Shape;508;g372a991dba8_0_0"/>
          <p:cNvSpPr txBox="1"/>
          <p:nvPr/>
        </p:nvSpPr>
        <p:spPr>
          <a:xfrm>
            <a:off x="4200575" y="4783800"/>
            <a:ext cx="22860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 waits for child</a:t>
            </a:r>
            <a:endParaRPr b="1"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72a991dba8_0_17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Combining Everything…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514" name="Google Shape;514;g372a991dba8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2" y="190800"/>
            <a:ext cx="847617" cy="99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5" name="Google Shape;515;g372a991dba8_0_17"/>
          <p:cNvCxnSpPr/>
          <p:nvPr/>
        </p:nvCxnSpPr>
        <p:spPr>
          <a:xfrm>
            <a:off x="432591" y="127496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16" name="Google Shape;516;g372a991dba8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75" y="2202525"/>
            <a:ext cx="7455750" cy="44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g372a991dba8_0_17"/>
          <p:cNvSpPr txBox="1"/>
          <p:nvPr/>
        </p:nvSpPr>
        <p:spPr>
          <a:xfrm>
            <a:off x="8520450" y="1521975"/>
            <a:ext cx="28332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f3 file</a:t>
            </a: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(not a process)</a:t>
            </a:r>
            <a:endParaRPr b="1"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72a991dba8_0_17"/>
          <p:cNvSpPr txBox="1"/>
          <p:nvPr/>
        </p:nvSpPr>
        <p:spPr>
          <a:xfrm>
            <a:off x="462125" y="1466650"/>
            <a:ext cx="25884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in execution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g372a991dba8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7875" y="2202525"/>
            <a:ext cx="5474400" cy="16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g372a991dba8_0_17"/>
          <p:cNvSpPr/>
          <p:nvPr/>
        </p:nvSpPr>
        <p:spPr>
          <a:xfrm>
            <a:off x="248975" y="2503600"/>
            <a:ext cx="1503900" cy="2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72a991dba8_0_35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Combining Everything…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526" name="Google Shape;526;g372a991dba8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2" y="190800"/>
            <a:ext cx="847617" cy="99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7" name="Google Shape;527;g372a991dba8_0_35"/>
          <p:cNvCxnSpPr/>
          <p:nvPr/>
        </p:nvCxnSpPr>
        <p:spPr>
          <a:xfrm>
            <a:off x="432591" y="127496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28" name="Google Shape;528;g372a991dba8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75" y="2202525"/>
            <a:ext cx="7455750" cy="44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72a991dba8_0_35"/>
          <p:cNvSpPr txBox="1"/>
          <p:nvPr/>
        </p:nvSpPr>
        <p:spPr>
          <a:xfrm>
            <a:off x="8520450" y="1521975"/>
            <a:ext cx="31620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f3 file</a:t>
            </a: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(not a process)</a:t>
            </a:r>
            <a:endParaRPr b="1"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72a991dba8_0_35"/>
          <p:cNvSpPr txBox="1"/>
          <p:nvPr/>
        </p:nvSpPr>
        <p:spPr>
          <a:xfrm>
            <a:off x="462125" y="1466650"/>
            <a:ext cx="25884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in execution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1" name="Google Shape;531;g372a991dba8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7875" y="2202525"/>
            <a:ext cx="5474400" cy="16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72a991dba8_0_35"/>
          <p:cNvSpPr/>
          <p:nvPr/>
        </p:nvSpPr>
        <p:spPr>
          <a:xfrm>
            <a:off x="533075" y="3038350"/>
            <a:ext cx="3852600" cy="300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" name="Google Shape;533;g372a991dba8_0_35"/>
          <p:cNvCxnSpPr>
            <a:stCxn id="532" idx="3"/>
          </p:cNvCxnSpPr>
          <p:nvPr/>
        </p:nvCxnSpPr>
        <p:spPr>
          <a:xfrm>
            <a:off x="4385675" y="3188800"/>
            <a:ext cx="4127400" cy="1637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4" name="Google Shape;534;g372a991dba8_0_35"/>
          <p:cNvSpPr txBox="1"/>
          <p:nvPr/>
        </p:nvSpPr>
        <p:spPr>
          <a:xfrm>
            <a:off x="8061900" y="5010200"/>
            <a:ext cx="39504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Hope is a good thing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72a991dba8_0_48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Combining Everything…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540" name="Google Shape;540;g372a991dba8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2" y="190800"/>
            <a:ext cx="847617" cy="99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1" name="Google Shape;541;g372a991dba8_0_48"/>
          <p:cNvCxnSpPr/>
          <p:nvPr/>
        </p:nvCxnSpPr>
        <p:spPr>
          <a:xfrm>
            <a:off x="432591" y="127496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42" name="Google Shape;542;g372a991dba8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75" y="2202525"/>
            <a:ext cx="7455750" cy="44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g372a991dba8_0_48"/>
          <p:cNvSpPr txBox="1"/>
          <p:nvPr/>
        </p:nvSpPr>
        <p:spPr>
          <a:xfrm>
            <a:off x="8520450" y="1521975"/>
            <a:ext cx="27294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f3 file (not a process)</a:t>
            </a:r>
            <a:endParaRPr b="1"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72a991dba8_0_48"/>
          <p:cNvSpPr txBox="1"/>
          <p:nvPr/>
        </p:nvSpPr>
        <p:spPr>
          <a:xfrm>
            <a:off x="462125" y="1466650"/>
            <a:ext cx="25884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in execution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g372a991dba8_0_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7875" y="2202525"/>
            <a:ext cx="5474400" cy="16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372a991dba8_0_48"/>
          <p:cNvSpPr/>
          <p:nvPr/>
        </p:nvSpPr>
        <p:spPr>
          <a:xfrm>
            <a:off x="462125" y="3339150"/>
            <a:ext cx="3134400" cy="110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g372a991dba8_0_48"/>
          <p:cNvCxnSpPr/>
          <p:nvPr/>
        </p:nvCxnSpPr>
        <p:spPr>
          <a:xfrm flipH="1" rot="10800000">
            <a:off x="3111875" y="3088425"/>
            <a:ext cx="3108300" cy="1186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8" name="Google Shape;548;g372a991dba8_0_48"/>
          <p:cNvSpPr txBox="1"/>
          <p:nvPr/>
        </p:nvSpPr>
        <p:spPr>
          <a:xfrm>
            <a:off x="4599125" y="3821475"/>
            <a:ext cx="53475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child will be converted to f3</a:t>
            </a:r>
            <a:endParaRPr b="1"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72a991dba8_0_61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Combining Everything…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554" name="Google Shape;554;g372a991dba8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2" y="190800"/>
            <a:ext cx="847617" cy="99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5" name="Google Shape;555;g372a991dba8_0_61"/>
          <p:cNvCxnSpPr/>
          <p:nvPr/>
        </p:nvCxnSpPr>
        <p:spPr>
          <a:xfrm>
            <a:off x="432591" y="127496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6" name="Google Shape;556;g372a991dba8_0_61"/>
          <p:cNvSpPr txBox="1"/>
          <p:nvPr/>
        </p:nvSpPr>
        <p:spPr>
          <a:xfrm>
            <a:off x="8520450" y="1521975"/>
            <a:ext cx="27294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f3 file (not a process)</a:t>
            </a:r>
            <a:endParaRPr b="1"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72a991dba8_0_61"/>
          <p:cNvSpPr txBox="1"/>
          <p:nvPr/>
        </p:nvSpPr>
        <p:spPr>
          <a:xfrm>
            <a:off x="462125" y="1466650"/>
            <a:ext cx="25884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in execution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8" name="Google Shape;558;g372a991dba8_0_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125" y="2354600"/>
            <a:ext cx="5474400" cy="1618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g372a991dba8_0_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6575" y="2287750"/>
            <a:ext cx="4742825" cy="16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g372a991dba8_0_61"/>
          <p:cNvSpPr txBox="1"/>
          <p:nvPr/>
        </p:nvSpPr>
        <p:spPr>
          <a:xfrm>
            <a:off x="432625" y="4325075"/>
            <a:ext cx="6333300" cy="10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is the child process now. Existence of previous child process is gone!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72a991dba8_0_61"/>
          <p:cNvSpPr/>
          <p:nvPr/>
        </p:nvSpPr>
        <p:spPr>
          <a:xfrm>
            <a:off x="867100" y="2921375"/>
            <a:ext cx="4996500" cy="40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2" name="Google Shape;562;g372a991dba8_0_61"/>
          <p:cNvCxnSpPr/>
          <p:nvPr/>
        </p:nvCxnSpPr>
        <p:spPr>
          <a:xfrm>
            <a:off x="5863600" y="3121925"/>
            <a:ext cx="2924400" cy="1871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3" name="Google Shape;563;g372a991dba8_0_61"/>
          <p:cNvSpPr txBox="1"/>
          <p:nvPr/>
        </p:nvSpPr>
        <p:spPr>
          <a:xfrm>
            <a:off x="7701700" y="5043625"/>
            <a:ext cx="42780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good thing ever dies.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72a991dba8_0_79"/>
          <p:cNvSpPr txBox="1"/>
          <p:nvPr>
            <p:ph type="title"/>
          </p:nvPr>
        </p:nvSpPr>
        <p:spPr>
          <a:xfrm>
            <a:off x="2399071" y="374959"/>
            <a:ext cx="89547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Combining Everything…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569" name="Google Shape;569;g372a991dba8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2" y="190800"/>
            <a:ext cx="847617" cy="99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0" name="Google Shape;570;g372a991dba8_0_79"/>
          <p:cNvCxnSpPr/>
          <p:nvPr/>
        </p:nvCxnSpPr>
        <p:spPr>
          <a:xfrm>
            <a:off x="432591" y="1274969"/>
            <a:ext cx="1132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71" name="Google Shape;571;g372a991dba8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475" y="2113904"/>
            <a:ext cx="7037726" cy="41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g372a991dba8_0_79"/>
          <p:cNvSpPr txBox="1"/>
          <p:nvPr/>
        </p:nvSpPr>
        <p:spPr>
          <a:xfrm>
            <a:off x="462125" y="1466650"/>
            <a:ext cx="20172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72a991dba8_0_79"/>
          <p:cNvSpPr/>
          <p:nvPr/>
        </p:nvSpPr>
        <p:spPr>
          <a:xfrm>
            <a:off x="320475" y="5472875"/>
            <a:ext cx="7230900" cy="54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4" name="Google Shape;574;g372a991dba8_0_79"/>
          <p:cNvCxnSpPr>
            <a:stCxn id="573" idx="0"/>
          </p:cNvCxnSpPr>
          <p:nvPr/>
        </p:nvCxnSpPr>
        <p:spPr>
          <a:xfrm flipH="1" rot="10800000">
            <a:off x="3935925" y="4208075"/>
            <a:ext cx="4116600" cy="1264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g372a991dba8_0_79"/>
          <p:cNvSpPr txBox="1"/>
          <p:nvPr/>
        </p:nvSpPr>
        <p:spPr>
          <a:xfrm>
            <a:off x="7551225" y="2343575"/>
            <a:ext cx="4378200" cy="18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Parent process returns from wait and prints:</a:t>
            </a:r>
            <a:endParaRPr b="1" sz="2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will be hoping that this letter finds you, and finds you well.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2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lang="en-US" sz="3600">
                <a:latin typeface="Basic"/>
                <a:ea typeface="Basic"/>
                <a:cs typeface="Basic"/>
                <a:sym typeface="Basic"/>
              </a:rPr>
              <a:t>Aside: Key Process API Terms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581" name="Google Shape;5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2" name="Google Shape;582;p32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83" name="Google Shape;58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4940" y="1759974"/>
            <a:ext cx="8392447" cy="5022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3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Some Practice Questions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589" name="Google Shape;5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0" name="Google Shape;590;p33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1" name="Google Shape;591;p33"/>
          <p:cNvSpPr txBox="1"/>
          <p:nvPr/>
        </p:nvSpPr>
        <p:spPr>
          <a:xfrm>
            <a:off x="658761" y="2113935"/>
            <a:ext cx="10874478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What is the purpose of fork(), wait() and exec() system calls?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How does the exec() system call transforms the running process to a completely different program?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What flexibility does the separation of wait() and exec() system call provide? Explain with an example.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42950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b="0" i="0" lang="en-US" sz="32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What will be the output of the following code? [some codes will be uploaded in the eLms for practice]</a:t>
            </a:r>
            <a:endParaRPr b="0" i="0" sz="32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4"/>
          <p:cNvSpPr txBox="1"/>
          <p:nvPr>
            <p:ph type="title"/>
          </p:nvPr>
        </p:nvSpPr>
        <p:spPr>
          <a:xfrm>
            <a:off x="2399071" y="374959"/>
            <a:ext cx="8954729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sic"/>
              <a:buNone/>
            </a:pPr>
            <a:r>
              <a:rPr b="1" i="1" lang="en-US" sz="3600">
                <a:latin typeface="Basic"/>
                <a:ea typeface="Basic"/>
                <a:cs typeface="Basic"/>
                <a:sym typeface="Basic"/>
              </a:rPr>
              <a:t>End of Chapter 5</a:t>
            </a:r>
            <a:endParaRPr b="1" i="1" sz="3600">
              <a:latin typeface="Basic"/>
              <a:ea typeface="Basic"/>
              <a:cs typeface="Basic"/>
              <a:sym typeface="Basic"/>
            </a:endParaRPr>
          </a:p>
        </p:txBody>
      </p:sp>
      <p:pic>
        <p:nvPicPr>
          <p:cNvPr descr="Operating Systems: Three Easy Pieces" id="597" name="Google Shape;59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8" name="Google Shape;598;p34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9" name="Google Shape;599;p34"/>
          <p:cNvSpPr txBox="1"/>
          <p:nvPr/>
        </p:nvSpPr>
        <p:spPr>
          <a:xfrm>
            <a:off x="373625" y="3293807"/>
            <a:ext cx="10874478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Basic"/>
                <a:ea typeface="Basic"/>
                <a:cs typeface="Basic"/>
                <a:sym typeface="Basic"/>
              </a:rPr>
              <a:t>Thank you! </a:t>
            </a:r>
            <a:endParaRPr b="0" i="0" sz="6600" u="none" cap="none" strike="noStrike">
              <a:solidFill>
                <a:schemeClr val="dk1"/>
              </a:solidFill>
              <a:latin typeface="Basic"/>
              <a:ea typeface="Basic"/>
              <a:cs typeface="Basic"/>
              <a:sym typeface="Bas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2024-10-10T12:29:49Z</dcterms:created>
  <dc:creator>HP</dc:creator>
</cp:coreProperties>
</file>